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nton" charset="1" panose="00000500000000000000"/>
      <p:regular r:id="rId17"/>
    </p:embeddedFont>
    <p:embeddedFont>
      <p:font typeface="DejaVu Serif Bold" charset="1" panose="02060803050605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Relationship Id="rId6" Target="../media/image11.jpeg" Type="http://schemas.openxmlformats.org/officeDocument/2006/relationships/image"/><Relationship Id="rId7" Target="../media/image12.jpeg" Type="http://schemas.openxmlformats.org/officeDocument/2006/relationships/image"/><Relationship Id="rId8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Relationship Id="rId6" Target="../media/image15.jpeg" Type="http://schemas.openxmlformats.org/officeDocument/2006/relationships/image"/><Relationship Id="rId7" Target="../media/image16.jpeg" Type="http://schemas.openxmlformats.org/officeDocument/2006/relationships/image"/><Relationship Id="rId8" Target="../media/image4.png" Type="http://schemas.openxmlformats.org/officeDocument/2006/relationships/image"/><Relationship Id="rId9" Target="../media/image1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Relationship Id="rId6" Target="../media/image11.jpeg" Type="http://schemas.openxmlformats.org/officeDocument/2006/relationships/image"/><Relationship Id="rId7" Target="../media/image12.jpeg" Type="http://schemas.openxmlformats.org/officeDocument/2006/relationships/image"/><Relationship Id="rId8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60002" y="8551330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4996" y="465628"/>
            <a:ext cx="1116081" cy="1114192"/>
          </a:xfrm>
          <a:custGeom>
            <a:avLst/>
            <a:gdLst/>
            <a:ahLst/>
            <a:cxnLst/>
            <a:rect r="r" b="b" t="t" l="l"/>
            <a:pathLst>
              <a:path h="1114192" w="1116081">
                <a:moveTo>
                  <a:pt x="0" y="0"/>
                </a:moveTo>
                <a:lnTo>
                  <a:pt x="1116080" y="0"/>
                </a:lnTo>
                <a:lnTo>
                  <a:pt x="1116080" y="1114192"/>
                </a:lnTo>
                <a:lnTo>
                  <a:pt x="0" y="1114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03036" y="1943231"/>
            <a:ext cx="16727205" cy="7315069"/>
            <a:chOff x="0" y="0"/>
            <a:chExt cx="22302940" cy="975342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581025"/>
              <a:ext cx="7885906" cy="46286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331"/>
                </a:lnSpc>
              </a:pPr>
              <a:r>
                <a:rPr lang="en-US" sz="15414" spc="-539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HASTANE </a:t>
              </a:r>
            </a:p>
            <a:p>
              <a:pPr algn="l">
                <a:lnSpc>
                  <a:spcPts val="12331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9108464"/>
              <a:ext cx="11742570" cy="6449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050"/>
                </a:lnSpc>
                <a:spcBef>
                  <a:spcPct val="0"/>
                </a:spcBef>
              </a:pPr>
              <a:r>
                <a:rPr lang="en-US" sz="2893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GRUP/3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232076"/>
              <a:ext cx="9065696" cy="25458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331"/>
                </a:lnSpc>
              </a:pPr>
              <a:r>
                <a:rPr lang="en-US" sz="15414" spc="-539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RANDEVU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6150662"/>
              <a:ext cx="22302940" cy="25458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331"/>
                </a:lnSpc>
              </a:pPr>
              <a:r>
                <a:rPr lang="en-US" sz="15414" spc="-539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SİSTEMİ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917486" y="465628"/>
            <a:ext cx="14836496" cy="8582442"/>
          </a:xfrm>
          <a:custGeom>
            <a:avLst/>
            <a:gdLst/>
            <a:ahLst/>
            <a:cxnLst/>
            <a:rect r="r" b="b" t="t" l="l"/>
            <a:pathLst>
              <a:path h="8582442" w="14836496">
                <a:moveTo>
                  <a:pt x="0" y="0"/>
                </a:moveTo>
                <a:lnTo>
                  <a:pt x="14836495" y="0"/>
                </a:lnTo>
                <a:lnTo>
                  <a:pt x="14836495" y="8582442"/>
                </a:lnTo>
                <a:lnTo>
                  <a:pt x="0" y="85824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57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787691" y="389428"/>
            <a:ext cx="4471609" cy="639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60"/>
              </a:lnSpc>
              <a:spcBef>
                <a:spcPct val="0"/>
              </a:spcBef>
            </a:pPr>
            <a:r>
              <a:rPr lang="en-US" sz="3757" spc="-1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0329" y="427528"/>
            <a:ext cx="7231031" cy="1316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8"/>
              </a:lnSpc>
            </a:pPr>
            <a:r>
              <a:rPr lang="en-US" sz="254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BÜYÜK VERİ TEKNOLOJİLERİ DERSİ </a:t>
            </a:r>
          </a:p>
          <a:p>
            <a:pPr algn="l">
              <a:lnSpc>
                <a:spcPts val="3568"/>
              </a:lnSpc>
            </a:pPr>
            <a:r>
              <a:rPr lang="en-US" sz="254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BAHAR DÖNEMİ</a:t>
            </a:r>
          </a:p>
          <a:p>
            <a:pPr algn="l">
              <a:lnSpc>
                <a:spcPts val="3568"/>
              </a:lnSpc>
            </a:pPr>
            <a:r>
              <a:rPr lang="en-US" sz="254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PROJE ÖDEVİ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7396" y="618028"/>
            <a:ext cx="1116081" cy="1114192"/>
          </a:xfrm>
          <a:custGeom>
            <a:avLst/>
            <a:gdLst/>
            <a:ahLst/>
            <a:cxnLst/>
            <a:rect r="r" b="b" t="t" l="l"/>
            <a:pathLst>
              <a:path h="1114192" w="1116081">
                <a:moveTo>
                  <a:pt x="0" y="0"/>
                </a:moveTo>
                <a:lnTo>
                  <a:pt x="1116080" y="0"/>
                </a:lnTo>
                <a:lnTo>
                  <a:pt x="1116080" y="1114192"/>
                </a:lnTo>
                <a:lnTo>
                  <a:pt x="0" y="11141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95633" y="9258300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55436" y="2712905"/>
            <a:ext cx="6845811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0"/>
              </a:lnSpc>
            </a:pPr>
            <a:r>
              <a:rPr lang="en-US" sz="14400" spc="-50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SUNUM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04405" y="2074730"/>
            <a:ext cx="6045882" cy="552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7602" indent="-563801" lvl="1">
              <a:lnSpc>
                <a:spcPts val="7311"/>
              </a:lnSpc>
              <a:buFont typeface="Arial"/>
              <a:buChar char="•"/>
            </a:pPr>
            <a:r>
              <a:rPr lang="en-US" sz="522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Sistem tanıtımı  </a:t>
            </a:r>
          </a:p>
          <a:p>
            <a:pPr algn="l" marL="1127602" indent="-563801" lvl="1">
              <a:lnSpc>
                <a:spcPts val="7311"/>
              </a:lnSpc>
              <a:buFont typeface="Arial"/>
              <a:buChar char="•"/>
            </a:pPr>
            <a:r>
              <a:rPr lang="en-US" sz="522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Veri yapısı </a:t>
            </a:r>
          </a:p>
          <a:p>
            <a:pPr algn="l" marL="1127602" indent="-563801" lvl="1">
              <a:lnSpc>
                <a:spcPts val="7311"/>
              </a:lnSpc>
              <a:buFont typeface="Arial"/>
              <a:buChar char="•"/>
            </a:pPr>
            <a:r>
              <a:rPr lang="en-US" sz="522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Kod mantığı </a:t>
            </a:r>
          </a:p>
          <a:p>
            <a:pPr algn="l" marL="1127602" indent="-563801" lvl="1">
              <a:lnSpc>
                <a:spcPts val="7311"/>
              </a:lnSpc>
              <a:buFont typeface="Arial"/>
              <a:buChar char="•"/>
            </a:pPr>
            <a:r>
              <a:rPr lang="en-US" sz="522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Örnek çıktı </a:t>
            </a:r>
          </a:p>
          <a:p>
            <a:pPr algn="l" marL="1127602" indent="-563801" lvl="1">
              <a:lnSpc>
                <a:spcPts val="7311"/>
              </a:lnSpc>
              <a:buFont typeface="Arial"/>
              <a:buChar char="•"/>
            </a:pPr>
            <a:r>
              <a:rPr lang="en-US" sz="522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Analiz sonuçları </a:t>
            </a:r>
          </a:p>
          <a:p>
            <a:pPr algn="l" marL="1127602" indent="-563801" lvl="1">
              <a:lnSpc>
                <a:spcPts val="7311"/>
              </a:lnSpc>
              <a:buFont typeface="Arial"/>
              <a:buChar char="•"/>
            </a:pPr>
            <a:r>
              <a:rPr lang="en-US" sz="522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Yorumlar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490453" y="3288385"/>
            <a:ext cx="6004478" cy="6598327"/>
          </a:xfrm>
          <a:custGeom>
            <a:avLst/>
            <a:gdLst/>
            <a:ahLst/>
            <a:cxnLst/>
            <a:rect r="r" b="b" t="t" l="l"/>
            <a:pathLst>
              <a:path h="6598327" w="6004478">
                <a:moveTo>
                  <a:pt x="0" y="0"/>
                </a:moveTo>
                <a:lnTo>
                  <a:pt x="6004478" y="0"/>
                </a:lnTo>
                <a:lnTo>
                  <a:pt x="6004478" y="6598327"/>
                </a:lnTo>
                <a:lnTo>
                  <a:pt x="0" y="65983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901750"/>
            <a:ext cx="6845811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0"/>
              </a:lnSpc>
            </a:pPr>
            <a:r>
              <a:rPr lang="en-US" sz="14400" spc="-50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İÇERİĞİ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33543"/>
            <a:ext cx="9350758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spc="-33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SİSTEM TANITIMI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505248" y="3342299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9" y="0"/>
                </a:lnTo>
                <a:lnTo>
                  <a:pt x="1399299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579483" y="-173220"/>
            <a:ext cx="3030242" cy="8033829"/>
            <a:chOff x="0" y="0"/>
            <a:chExt cx="510055" cy="13522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0055" cy="1352266"/>
            </a:xfrm>
            <a:custGeom>
              <a:avLst/>
              <a:gdLst/>
              <a:ahLst/>
              <a:cxnLst/>
              <a:rect r="r" b="b" t="t" l="l"/>
              <a:pathLst>
                <a:path h="1352266" w="510055">
                  <a:moveTo>
                    <a:pt x="35768" y="0"/>
                  </a:moveTo>
                  <a:lnTo>
                    <a:pt x="474287" y="0"/>
                  </a:lnTo>
                  <a:cubicBezTo>
                    <a:pt x="494041" y="0"/>
                    <a:pt x="510055" y="16014"/>
                    <a:pt x="510055" y="35768"/>
                  </a:cubicBezTo>
                  <a:lnTo>
                    <a:pt x="510055" y="1316498"/>
                  </a:lnTo>
                  <a:cubicBezTo>
                    <a:pt x="510055" y="1336252"/>
                    <a:pt x="494041" y="1352266"/>
                    <a:pt x="474287" y="1352266"/>
                  </a:cubicBezTo>
                  <a:lnTo>
                    <a:pt x="35768" y="1352266"/>
                  </a:lnTo>
                  <a:cubicBezTo>
                    <a:pt x="16014" y="1352266"/>
                    <a:pt x="0" y="1336252"/>
                    <a:pt x="0" y="1316498"/>
                  </a:cubicBezTo>
                  <a:lnTo>
                    <a:pt x="0" y="35768"/>
                  </a:lnTo>
                  <a:cubicBezTo>
                    <a:pt x="0" y="16014"/>
                    <a:pt x="16014" y="0"/>
                    <a:pt x="357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54069">
                    <a:alpha val="100000"/>
                  </a:srgbClr>
                </a:gs>
                <a:gs pos="50000">
                  <a:srgbClr val="144A7F">
                    <a:alpha val="100000"/>
                  </a:srgbClr>
                </a:gs>
                <a:gs pos="100000">
                  <a:srgbClr val="3C98C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809750" y="2062068"/>
            <a:ext cx="3030242" cy="8351798"/>
            <a:chOff x="0" y="0"/>
            <a:chExt cx="510055" cy="14057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0055" cy="1405788"/>
            </a:xfrm>
            <a:custGeom>
              <a:avLst/>
              <a:gdLst/>
              <a:ahLst/>
              <a:cxnLst/>
              <a:rect r="r" b="b" t="t" l="l"/>
              <a:pathLst>
                <a:path h="1405788" w="510055">
                  <a:moveTo>
                    <a:pt x="35768" y="0"/>
                  </a:moveTo>
                  <a:lnTo>
                    <a:pt x="474287" y="0"/>
                  </a:lnTo>
                  <a:cubicBezTo>
                    <a:pt x="494041" y="0"/>
                    <a:pt x="510055" y="16014"/>
                    <a:pt x="510055" y="35768"/>
                  </a:cubicBezTo>
                  <a:lnTo>
                    <a:pt x="510055" y="1370019"/>
                  </a:lnTo>
                  <a:cubicBezTo>
                    <a:pt x="510055" y="1389774"/>
                    <a:pt x="494041" y="1405788"/>
                    <a:pt x="474287" y="1405788"/>
                  </a:cubicBezTo>
                  <a:lnTo>
                    <a:pt x="35768" y="1405788"/>
                  </a:lnTo>
                  <a:cubicBezTo>
                    <a:pt x="16014" y="1405788"/>
                    <a:pt x="0" y="1389774"/>
                    <a:pt x="0" y="1370019"/>
                  </a:cubicBezTo>
                  <a:lnTo>
                    <a:pt x="0" y="35768"/>
                  </a:lnTo>
                  <a:cubicBezTo>
                    <a:pt x="0" y="16014"/>
                    <a:pt x="16014" y="0"/>
                    <a:pt x="35768" y="0"/>
                  </a:cubicBezTo>
                  <a:close/>
                </a:path>
              </a:pathLst>
            </a:custGeom>
            <a:solidFill>
              <a:srgbClr val="AB654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025539" y="2234224"/>
            <a:ext cx="2618759" cy="8007487"/>
            <a:chOff x="0" y="0"/>
            <a:chExt cx="425084" cy="12997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5084" cy="1299796"/>
            </a:xfrm>
            <a:custGeom>
              <a:avLst/>
              <a:gdLst/>
              <a:ahLst/>
              <a:cxnLst/>
              <a:rect r="r" b="b" t="t" l="l"/>
              <a:pathLst>
                <a:path h="1299796" w="425084">
                  <a:moveTo>
                    <a:pt x="41389" y="0"/>
                  </a:moveTo>
                  <a:lnTo>
                    <a:pt x="383695" y="0"/>
                  </a:lnTo>
                  <a:cubicBezTo>
                    <a:pt x="406553" y="0"/>
                    <a:pt x="425084" y="18530"/>
                    <a:pt x="425084" y="41389"/>
                  </a:cubicBezTo>
                  <a:lnTo>
                    <a:pt x="425084" y="1258407"/>
                  </a:lnTo>
                  <a:cubicBezTo>
                    <a:pt x="425084" y="1269384"/>
                    <a:pt x="420723" y="1279911"/>
                    <a:pt x="412961" y="1287673"/>
                  </a:cubicBezTo>
                  <a:cubicBezTo>
                    <a:pt x="405199" y="1295435"/>
                    <a:pt x="394672" y="1299796"/>
                    <a:pt x="383695" y="1299796"/>
                  </a:cubicBezTo>
                  <a:lnTo>
                    <a:pt x="41389" y="1299796"/>
                  </a:lnTo>
                  <a:cubicBezTo>
                    <a:pt x="30412" y="1299796"/>
                    <a:pt x="19884" y="1295435"/>
                    <a:pt x="12122" y="1287673"/>
                  </a:cubicBezTo>
                  <a:cubicBezTo>
                    <a:pt x="4361" y="1279911"/>
                    <a:pt x="0" y="1269384"/>
                    <a:pt x="0" y="1258407"/>
                  </a:cubicBezTo>
                  <a:lnTo>
                    <a:pt x="0" y="41389"/>
                  </a:lnTo>
                  <a:cubicBezTo>
                    <a:pt x="0" y="30412"/>
                    <a:pt x="4361" y="19884"/>
                    <a:pt x="12122" y="12122"/>
                  </a:cubicBezTo>
                  <a:cubicBezTo>
                    <a:pt x="19884" y="4361"/>
                    <a:pt x="30412" y="0"/>
                    <a:pt x="41389" y="0"/>
                  </a:cubicBezTo>
                  <a:close/>
                </a:path>
              </a:pathLst>
            </a:custGeom>
            <a:blipFill>
              <a:blip r:embed="rId4"/>
              <a:stretch>
                <a:fillRect l="-179905" t="0" r="-17990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041641" y="4003873"/>
            <a:ext cx="3030242" cy="6409993"/>
            <a:chOff x="0" y="0"/>
            <a:chExt cx="510055" cy="10789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0055" cy="1078940"/>
            </a:xfrm>
            <a:custGeom>
              <a:avLst/>
              <a:gdLst/>
              <a:ahLst/>
              <a:cxnLst/>
              <a:rect r="r" b="b" t="t" l="l"/>
              <a:pathLst>
                <a:path h="1078940" w="510055">
                  <a:moveTo>
                    <a:pt x="35768" y="0"/>
                  </a:moveTo>
                  <a:lnTo>
                    <a:pt x="474287" y="0"/>
                  </a:lnTo>
                  <a:cubicBezTo>
                    <a:pt x="494041" y="0"/>
                    <a:pt x="510055" y="16014"/>
                    <a:pt x="510055" y="35768"/>
                  </a:cubicBezTo>
                  <a:lnTo>
                    <a:pt x="510055" y="1043172"/>
                  </a:lnTo>
                  <a:cubicBezTo>
                    <a:pt x="510055" y="1062926"/>
                    <a:pt x="494041" y="1078940"/>
                    <a:pt x="474287" y="1078940"/>
                  </a:cubicBezTo>
                  <a:lnTo>
                    <a:pt x="35768" y="1078940"/>
                  </a:lnTo>
                  <a:cubicBezTo>
                    <a:pt x="16014" y="1078940"/>
                    <a:pt x="0" y="1062926"/>
                    <a:pt x="0" y="1043172"/>
                  </a:cubicBezTo>
                  <a:lnTo>
                    <a:pt x="0" y="35768"/>
                  </a:lnTo>
                  <a:cubicBezTo>
                    <a:pt x="0" y="16014"/>
                    <a:pt x="16014" y="0"/>
                    <a:pt x="35768" y="0"/>
                  </a:cubicBezTo>
                  <a:close/>
                </a:path>
              </a:pathLst>
            </a:custGeom>
            <a:blipFill>
              <a:blip r:embed="rId5"/>
              <a:stretch>
                <a:fillRect l="-135150" t="0" r="-13515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041641" y="1860984"/>
            <a:ext cx="3030242" cy="1935202"/>
            <a:chOff x="0" y="0"/>
            <a:chExt cx="510055" cy="3257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0055" cy="325736"/>
            </a:xfrm>
            <a:custGeom>
              <a:avLst/>
              <a:gdLst/>
              <a:ahLst/>
              <a:cxnLst/>
              <a:rect r="r" b="b" t="t" l="l"/>
              <a:pathLst>
                <a:path h="325736" w="510055">
                  <a:moveTo>
                    <a:pt x="35768" y="0"/>
                  </a:moveTo>
                  <a:lnTo>
                    <a:pt x="474287" y="0"/>
                  </a:lnTo>
                  <a:cubicBezTo>
                    <a:pt x="494041" y="0"/>
                    <a:pt x="510055" y="16014"/>
                    <a:pt x="510055" y="35768"/>
                  </a:cubicBezTo>
                  <a:lnTo>
                    <a:pt x="510055" y="289968"/>
                  </a:lnTo>
                  <a:cubicBezTo>
                    <a:pt x="510055" y="309722"/>
                    <a:pt x="494041" y="325736"/>
                    <a:pt x="474287" y="325736"/>
                  </a:cubicBezTo>
                  <a:lnTo>
                    <a:pt x="35768" y="325736"/>
                  </a:lnTo>
                  <a:cubicBezTo>
                    <a:pt x="16014" y="325736"/>
                    <a:pt x="0" y="309722"/>
                    <a:pt x="0" y="289968"/>
                  </a:cubicBezTo>
                  <a:lnTo>
                    <a:pt x="0" y="35768"/>
                  </a:lnTo>
                  <a:cubicBezTo>
                    <a:pt x="0" y="16014"/>
                    <a:pt x="16014" y="0"/>
                    <a:pt x="35768" y="0"/>
                  </a:cubicBezTo>
                  <a:close/>
                </a:path>
              </a:pathLst>
            </a:custGeom>
            <a:blipFill>
              <a:blip r:embed="rId6"/>
              <a:stretch>
                <a:fillRect l="-6835" t="0" r="-6835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767911" y="0"/>
            <a:ext cx="2690325" cy="7503904"/>
            <a:chOff x="0" y="0"/>
            <a:chExt cx="578923" cy="16147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8923" cy="1614744"/>
            </a:xfrm>
            <a:custGeom>
              <a:avLst/>
              <a:gdLst/>
              <a:ahLst/>
              <a:cxnLst/>
              <a:rect r="r" b="b" t="t" l="l"/>
              <a:pathLst>
                <a:path h="1614744" w="578923">
                  <a:moveTo>
                    <a:pt x="40288" y="0"/>
                  </a:moveTo>
                  <a:lnTo>
                    <a:pt x="538636" y="0"/>
                  </a:lnTo>
                  <a:cubicBezTo>
                    <a:pt x="549321" y="0"/>
                    <a:pt x="559568" y="4245"/>
                    <a:pt x="567124" y="11800"/>
                  </a:cubicBezTo>
                  <a:cubicBezTo>
                    <a:pt x="574679" y="19355"/>
                    <a:pt x="578923" y="29603"/>
                    <a:pt x="578923" y="40288"/>
                  </a:cubicBezTo>
                  <a:lnTo>
                    <a:pt x="578923" y="1574456"/>
                  </a:lnTo>
                  <a:cubicBezTo>
                    <a:pt x="578923" y="1585141"/>
                    <a:pt x="574679" y="1595388"/>
                    <a:pt x="567124" y="1602944"/>
                  </a:cubicBezTo>
                  <a:cubicBezTo>
                    <a:pt x="559568" y="1610499"/>
                    <a:pt x="549321" y="1614744"/>
                    <a:pt x="538636" y="1614744"/>
                  </a:cubicBezTo>
                  <a:lnTo>
                    <a:pt x="40288" y="1614744"/>
                  </a:lnTo>
                  <a:cubicBezTo>
                    <a:pt x="29603" y="1614744"/>
                    <a:pt x="19355" y="1610499"/>
                    <a:pt x="11800" y="1602944"/>
                  </a:cubicBezTo>
                  <a:cubicBezTo>
                    <a:pt x="4245" y="1595388"/>
                    <a:pt x="0" y="1585141"/>
                    <a:pt x="0" y="1574456"/>
                  </a:cubicBezTo>
                  <a:lnTo>
                    <a:pt x="0" y="40288"/>
                  </a:lnTo>
                  <a:cubicBezTo>
                    <a:pt x="0" y="29603"/>
                    <a:pt x="4245" y="19355"/>
                    <a:pt x="11800" y="11800"/>
                  </a:cubicBezTo>
                  <a:cubicBezTo>
                    <a:pt x="19355" y="4245"/>
                    <a:pt x="29603" y="0"/>
                    <a:pt x="40288" y="0"/>
                  </a:cubicBezTo>
                  <a:close/>
                </a:path>
              </a:pathLst>
            </a:custGeom>
            <a:blipFill>
              <a:blip r:embed="rId7"/>
              <a:stretch>
                <a:fillRect l="-197930" t="0" r="-19793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24973" y="4419529"/>
            <a:ext cx="9197310" cy="461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Sistem Amacı: Hastane randevu süreçlerini, klinik doluluklarını ve hasta bekleme sürelerini uçtan uca takip etmek. </a:t>
            </a:r>
          </a:p>
          <a:p>
            <a:pPr algn="just">
              <a:lnSpc>
                <a:spcPts val="3639"/>
              </a:lnSpc>
            </a:pPr>
          </a:p>
          <a:p>
            <a:pPr algn="just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Üretilen Veriler: Randevu zamanı, hasta ID, klinik bilgisi, bekleme süresi ve işlem durumu. </a:t>
            </a:r>
          </a:p>
          <a:p>
            <a:pPr algn="just">
              <a:lnSpc>
                <a:spcPts val="3639"/>
              </a:lnSpc>
            </a:pPr>
          </a:p>
          <a:p>
            <a:pPr algn="just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Neden Büyük Veri İçersin de değerlendiririz : Yüksek hacimli ve anlık gelişen randevu verilerinin gecikmesiz işlenmesi, yoğun kliniklerin hızlı tespiti için pipeline mantığı gereklidir. </a:t>
            </a:r>
          </a:p>
          <a:p>
            <a:pPr algn="just">
              <a:lnSpc>
                <a:spcPts val="4190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0597953" y="8341531"/>
            <a:ext cx="3030242" cy="2228595"/>
            <a:chOff x="0" y="0"/>
            <a:chExt cx="510055" cy="3751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0055" cy="375121"/>
            </a:xfrm>
            <a:custGeom>
              <a:avLst/>
              <a:gdLst/>
              <a:ahLst/>
              <a:cxnLst/>
              <a:rect r="r" b="b" t="t" l="l"/>
              <a:pathLst>
                <a:path h="375121" w="510055">
                  <a:moveTo>
                    <a:pt x="35768" y="0"/>
                  </a:moveTo>
                  <a:lnTo>
                    <a:pt x="474287" y="0"/>
                  </a:lnTo>
                  <a:cubicBezTo>
                    <a:pt x="494041" y="0"/>
                    <a:pt x="510055" y="16014"/>
                    <a:pt x="510055" y="35768"/>
                  </a:cubicBezTo>
                  <a:lnTo>
                    <a:pt x="510055" y="339352"/>
                  </a:lnTo>
                  <a:cubicBezTo>
                    <a:pt x="510055" y="359107"/>
                    <a:pt x="494041" y="375121"/>
                    <a:pt x="474287" y="375121"/>
                  </a:cubicBezTo>
                  <a:lnTo>
                    <a:pt x="35768" y="375121"/>
                  </a:lnTo>
                  <a:cubicBezTo>
                    <a:pt x="16014" y="375121"/>
                    <a:pt x="0" y="359107"/>
                    <a:pt x="0" y="339352"/>
                  </a:cubicBezTo>
                  <a:lnTo>
                    <a:pt x="0" y="35768"/>
                  </a:lnTo>
                  <a:cubicBezTo>
                    <a:pt x="0" y="16014"/>
                    <a:pt x="16014" y="0"/>
                    <a:pt x="35768" y="0"/>
                  </a:cubicBezTo>
                  <a:close/>
                </a:path>
              </a:pathLst>
            </a:custGeom>
            <a:blipFill>
              <a:blip r:embed="rId6"/>
              <a:stretch>
                <a:fillRect l="-15452" t="0" r="-15452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5400000">
            <a:off x="15480444" y="-2043236"/>
            <a:ext cx="2025840" cy="5367228"/>
            <a:chOff x="0" y="0"/>
            <a:chExt cx="510055" cy="13513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0055" cy="1351331"/>
            </a:xfrm>
            <a:custGeom>
              <a:avLst/>
              <a:gdLst/>
              <a:ahLst/>
              <a:cxnLst/>
              <a:rect r="r" b="b" t="t" l="l"/>
              <a:pathLst>
                <a:path h="1351331" w="510055">
                  <a:moveTo>
                    <a:pt x="53502" y="0"/>
                  </a:moveTo>
                  <a:lnTo>
                    <a:pt x="456553" y="0"/>
                  </a:lnTo>
                  <a:cubicBezTo>
                    <a:pt x="486101" y="0"/>
                    <a:pt x="510055" y="23954"/>
                    <a:pt x="510055" y="53502"/>
                  </a:cubicBezTo>
                  <a:lnTo>
                    <a:pt x="510055" y="1297829"/>
                  </a:lnTo>
                  <a:cubicBezTo>
                    <a:pt x="510055" y="1312019"/>
                    <a:pt x="504418" y="1325627"/>
                    <a:pt x="494385" y="1335661"/>
                  </a:cubicBezTo>
                  <a:cubicBezTo>
                    <a:pt x="484351" y="1345695"/>
                    <a:pt x="470742" y="1351331"/>
                    <a:pt x="456553" y="1351331"/>
                  </a:cubicBezTo>
                  <a:lnTo>
                    <a:pt x="53502" y="1351331"/>
                  </a:lnTo>
                  <a:cubicBezTo>
                    <a:pt x="39313" y="1351331"/>
                    <a:pt x="25704" y="1345695"/>
                    <a:pt x="15670" y="1335661"/>
                  </a:cubicBezTo>
                  <a:cubicBezTo>
                    <a:pt x="5637" y="1325627"/>
                    <a:pt x="0" y="1312019"/>
                    <a:pt x="0" y="1297829"/>
                  </a:cubicBezTo>
                  <a:lnTo>
                    <a:pt x="0" y="53502"/>
                  </a:lnTo>
                  <a:cubicBezTo>
                    <a:pt x="0" y="39313"/>
                    <a:pt x="5637" y="25704"/>
                    <a:pt x="15670" y="15670"/>
                  </a:cubicBezTo>
                  <a:cubicBezTo>
                    <a:pt x="25704" y="5637"/>
                    <a:pt x="39313" y="0"/>
                    <a:pt x="53502" y="0"/>
                  </a:cubicBezTo>
                  <a:close/>
                </a:path>
              </a:pathLst>
            </a:custGeom>
            <a:blipFill>
              <a:blip r:embed="rId5"/>
              <a:stretch>
                <a:fillRect l="-181893" t="0" r="-181893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470660" y="539106"/>
            <a:ext cx="1116081" cy="1114192"/>
          </a:xfrm>
          <a:custGeom>
            <a:avLst/>
            <a:gdLst/>
            <a:ahLst/>
            <a:cxnLst/>
            <a:rect r="r" b="b" t="t" l="l"/>
            <a:pathLst>
              <a:path h="1114192" w="1116081">
                <a:moveTo>
                  <a:pt x="0" y="0"/>
                </a:moveTo>
                <a:lnTo>
                  <a:pt x="1116080" y="0"/>
                </a:lnTo>
                <a:lnTo>
                  <a:pt x="1116080" y="1114192"/>
                </a:lnTo>
                <a:lnTo>
                  <a:pt x="0" y="11141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992488" y="3533211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9" y="0"/>
                </a:lnTo>
                <a:lnTo>
                  <a:pt x="1399299" y="628413"/>
                </a:lnTo>
                <a:lnTo>
                  <a:pt x="0" y="628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571557" y="174550"/>
            <a:ext cx="3991463" cy="399146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336" y="0"/>
                  </a:moveTo>
                  <a:lnTo>
                    <a:pt x="791464" y="0"/>
                  </a:lnTo>
                  <a:cubicBezTo>
                    <a:pt x="803248" y="0"/>
                    <a:pt x="812800" y="9552"/>
                    <a:pt x="812800" y="21336"/>
                  </a:cubicBezTo>
                  <a:lnTo>
                    <a:pt x="812800" y="791464"/>
                  </a:lnTo>
                  <a:cubicBezTo>
                    <a:pt x="812800" y="803248"/>
                    <a:pt x="803248" y="812800"/>
                    <a:pt x="791464" y="812800"/>
                  </a:cubicBezTo>
                  <a:lnTo>
                    <a:pt x="21336" y="812800"/>
                  </a:lnTo>
                  <a:cubicBezTo>
                    <a:pt x="9552" y="812800"/>
                    <a:pt x="0" y="803248"/>
                    <a:pt x="0" y="791464"/>
                  </a:cubicBezTo>
                  <a:lnTo>
                    <a:pt x="0" y="21336"/>
                  </a:lnTo>
                  <a:cubicBezTo>
                    <a:pt x="0" y="9552"/>
                    <a:pt x="9552" y="0"/>
                    <a:pt x="21336" y="0"/>
                  </a:cubicBezTo>
                  <a:close/>
                </a:path>
              </a:pathLst>
            </a:custGeom>
            <a:blipFill>
              <a:blip r:embed="rId4"/>
              <a:stretch>
                <a:fillRect l="-24931" t="0" r="-2493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571557" y="5518017"/>
            <a:ext cx="3991463" cy="5264396"/>
            <a:chOff x="0" y="0"/>
            <a:chExt cx="812800" cy="10720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72013"/>
            </a:xfrm>
            <a:custGeom>
              <a:avLst/>
              <a:gdLst/>
              <a:ahLst/>
              <a:cxnLst/>
              <a:rect r="r" b="b" t="t" l="l"/>
              <a:pathLst>
                <a:path h="1072013" w="812800">
                  <a:moveTo>
                    <a:pt x="21336" y="0"/>
                  </a:moveTo>
                  <a:lnTo>
                    <a:pt x="791464" y="0"/>
                  </a:lnTo>
                  <a:cubicBezTo>
                    <a:pt x="803248" y="0"/>
                    <a:pt x="812800" y="9552"/>
                    <a:pt x="812800" y="21336"/>
                  </a:cubicBezTo>
                  <a:lnTo>
                    <a:pt x="812800" y="1050677"/>
                  </a:lnTo>
                  <a:cubicBezTo>
                    <a:pt x="812800" y="1062461"/>
                    <a:pt x="803248" y="1072013"/>
                    <a:pt x="791464" y="1072013"/>
                  </a:cubicBezTo>
                  <a:lnTo>
                    <a:pt x="21336" y="1072013"/>
                  </a:lnTo>
                  <a:cubicBezTo>
                    <a:pt x="9552" y="1072013"/>
                    <a:pt x="0" y="1062461"/>
                    <a:pt x="0" y="1050677"/>
                  </a:cubicBezTo>
                  <a:lnTo>
                    <a:pt x="0" y="21336"/>
                  </a:lnTo>
                  <a:cubicBezTo>
                    <a:pt x="0" y="9552"/>
                    <a:pt x="9552" y="0"/>
                    <a:pt x="21336" y="0"/>
                  </a:cubicBezTo>
                  <a:close/>
                </a:path>
              </a:pathLst>
            </a:custGeom>
            <a:blipFill>
              <a:blip r:embed="rId5"/>
              <a:stretch>
                <a:fillRect l="-67236" t="0" r="-6723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946774" y="0"/>
            <a:ext cx="3991463" cy="399146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336" y="0"/>
                  </a:moveTo>
                  <a:lnTo>
                    <a:pt x="791464" y="0"/>
                  </a:lnTo>
                  <a:cubicBezTo>
                    <a:pt x="803248" y="0"/>
                    <a:pt x="812800" y="9552"/>
                    <a:pt x="812800" y="21336"/>
                  </a:cubicBezTo>
                  <a:lnTo>
                    <a:pt x="812800" y="791464"/>
                  </a:lnTo>
                  <a:cubicBezTo>
                    <a:pt x="812800" y="803248"/>
                    <a:pt x="803248" y="812800"/>
                    <a:pt x="791464" y="812800"/>
                  </a:cubicBezTo>
                  <a:lnTo>
                    <a:pt x="21336" y="812800"/>
                  </a:lnTo>
                  <a:cubicBezTo>
                    <a:pt x="9552" y="812800"/>
                    <a:pt x="0" y="803248"/>
                    <a:pt x="0" y="791464"/>
                  </a:cubicBezTo>
                  <a:lnTo>
                    <a:pt x="0" y="21336"/>
                  </a:lnTo>
                  <a:cubicBezTo>
                    <a:pt x="0" y="9552"/>
                    <a:pt x="9552" y="0"/>
                    <a:pt x="213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54069">
                    <a:alpha val="100000"/>
                  </a:srgbClr>
                </a:gs>
                <a:gs pos="50000">
                  <a:srgbClr val="144A7F">
                    <a:alpha val="100000"/>
                  </a:srgbClr>
                </a:gs>
                <a:gs pos="100000">
                  <a:srgbClr val="3C98CB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480188" y="4211084"/>
            <a:ext cx="3991463" cy="399146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336" y="0"/>
                  </a:moveTo>
                  <a:lnTo>
                    <a:pt x="791464" y="0"/>
                  </a:lnTo>
                  <a:cubicBezTo>
                    <a:pt x="803248" y="0"/>
                    <a:pt x="812800" y="9552"/>
                    <a:pt x="812800" y="21336"/>
                  </a:cubicBezTo>
                  <a:lnTo>
                    <a:pt x="812800" y="791464"/>
                  </a:lnTo>
                  <a:cubicBezTo>
                    <a:pt x="812800" y="803248"/>
                    <a:pt x="803248" y="812800"/>
                    <a:pt x="791464" y="812800"/>
                  </a:cubicBezTo>
                  <a:lnTo>
                    <a:pt x="21336" y="812800"/>
                  </a:lnTo>
                  <a:cubicBezTo>
                    <a:pt x="9552" y="812800"/>
                    <a:pt x="0" y="803248"/>
                    <a:pt x="0" y="791464"/>
                  </a:cubicBezTo>
                  <a:lnTo>
                    <a:pt x="0" y="21336"/>
                  </a:lnTo>
                  <a:cubicBezTo>
                    <a:pt x="0" y="9552"/>
                    <a:pt x="9552" y="0"/>
                    <a:pt x="21336" y="0"/>
                  </a:cubicBezTo>
                  <a:close/>
                </a:path>
              </a:pathLst>
            </a:custGeom>
            <a:blipFill>
              <a:blip r:embed="rId6"/>
              <a:stretch>
                <a:fillRect l="-24931" t="0" r="-2493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832471" y="8421622"/>
            <a:ext cx="3991463" cy="399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336" y="0"/>
                  </a:moveTo>
                  <a:lnTo>
                    <a:pt x="791464" y="0"/>
                  </a:lnTo>
                  <a:cubicBezTo>
                    <a:pt x="803248" y="0"/>
                    <a:pt x="812800" y="9552"/>
                    <a:pt x="812800" y="21336"/>
                  </a:cubicBezTo>
                  <a:lnTo>
                    <a:pt x="812800" y="791464"/>
                  </a:lnTo>
                  <a:cubicBezTo>
                    <a:pt x="812800" y="803248"/>
                    <a:pt x="803248" y="812800"/>
                    <a:pt x="791464" y="812800"/>
                  </a:cubicBezTo>
                  <a:lnTo>
                    <a:pt x="21336" y="812800"/>
                  </a:lnTo>
                  <a:cubicBezTo>
                    <a:pt x="9552" y="812800"/>
                    <a:pt x="0" y="803248"/>
                    <a:pt x="0" y="791464"/>
                  </a:cubicBezTo>
                  <a:lnTo>
                    <a:pt x="0" y="21336"/>
                  </a:lnTo>
                  <a:cubicBezTo>
                    <a:pt x="0" y="9552"/>
                    <a:pt x="9552" y="0"/>
                    <a:pt x="21336" y="0"/>
                  </a:cubicBezTo>
                  <a:close/>
                </a:path>
              </a:pathLst>
            </a:custGeom>
            <a:blipFill>
              <a:blip r:embed="rId7"/>
              <a:stretch>
                <a:fillRect l="-25000" t="0" r="-2500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61851" y="174550"/>
            <a:ext cx="1116081" cy="1114192"/>
          </a:xfrm>
          <a:custGeom>
            <a:avLst/>
            <a:gdLst/>
            <a:ahLst/>
            <a:cxnLst/>
            <a:rect r="r" b="b" t="t" l="l"/>
            <a:pathLst>
              <a:path h="1114192" w="1116081">
                <a:moveTo>
                  <a:pt x="0" y="0"/>
                </a:moveTo>
                <a:lnTo>
                  <a:pt x="1116080" y="0"/>
                </a:lnTo>
                <a:lnTo>
                  <a:pt x="1116080" y="1114192"/>
                </a:lnTo>
                <a:lnTo>
                  <a:pt x="0" y="11141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946774" y="22625"/>
            <a:ext cx="3991463" cy="399146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1336" y="0"/>
                  </a:moveTo>
                  <a:lnTo>
                    <a:pt x="791464" y="0"/>
                  </a:lnTo>
                  <a:cubicBezTo>
                    <a:pt x="803248" y="0"/>
                    <a:pt x="812800" y="9552"/>
                    <a:pt x="812800" y="21336"/>
                  </a:cubicBezTo>
                  <a:lnTo>
                    <a:pt x="812800" y="791464"/>
                  </a:lnTo>
                  <a:cubicBezTo>
                    <a:pt x="812800" y="803248"/>
                    <a:pt x="803248" y="812800"/>
                    <a:pt x="791464" y="812800"/>
                  </a:cubicBezTo>
                  <a:lnTo>
                    <a:pt x="21336" y="812800"/>
                  </a:lnTo>
                  <a:cubicBezTo>
                    <a:pt x="9552" y="812800"/>
                    <a:pt x="0" y="803248"/>
                    <a:pt x="0" y="791464"/>
                  </a:cubicBezTo>
                  <a:lnTo>
                    <a:pt x="0" y="21336"/>
                  </a:lnTo>
                  <a:cubicBezTo>
                    <a:pt x="0" y="9552"/>
                    <a:pt x="9552" y="0"/>
                    <a:pt x="21336" y="0"/>
                  </a:cubicBezTo>
                  <a:close/>
                </a:path>
              </a:pathLst>
            </a:custGeom>
            <a:blipFill>
              <a:blip r:embed="rId9"/>
              <a:stretch>
                <a:fillRect l="-38888" t="0" r="-38888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81010" y="4947117"/>
            <a:ext cx="15747628" cy="2519397"/>
          </a:xfrm>
          <a:custGeom>
            <a:avLst/>
            <a:gdLst/>
            <a:ahLst/>
            <a:cxnLst/>
            <a:rect r="r" b="b" t="t" l="l"/>
            <a:pathLst>
              <a:path h="2519397" w="15747628">
                <a:moveTo>
                  <a:pt x="0" y="0"/>
                </a:moveTo>
                <a:lnTo>
                  <a:pt x="15747628" y="0"/>
                </a:lnTo>
                <a:lnTo>
                  <a:pt x="15747628" y="2519397"/>
                </a:lnTo>
                <a:lnTo>
                  <a:pt x="0" y="25193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235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77931" y="1660217"/>
            <a:ext cx="9674904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spc="-33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VERİ YAPISI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39658"/>
            <a:ext cx="9350758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spc="-33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KOD MANTIĞI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7810056" y="2038741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9" y="0"/>
                </a:lnTo>
                <a:lnTo>
                  <a:pt x="1399299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579483" y="-173220"/>
            <a:ext cx="3030242" cy="8033829"/>
            <a:chOff x="0" y="0"/>
            <a:chExt cx="510055" cy="13522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0055" cy="1352266"/>
            </a:xfrm>
            <a:custGeom>
              <a:avLst/>
              <a:gdLst/>
              <a:ahLst/>
              <a:cxnLst/>
              <a:rect r="r" b="b" t="t" l="l"/>
              <a:pathLst>
                <a:path h="1352266" w="510055">
                  <a:moveTo>
                    <a:pt x="35768" y="0"/>
                  </a:moveTo>
                  <a:lnTo>
                    <a:pt x="474287" y="0"/>
                  </a:lnTo>
                  <a:cubicBezTo>
                    <a:pt x="494041" y="0"/>
                    <a:pt x="510055" y="16014"/>
                    <a:pt x="510055" y="35768"/>
                  </a:cubicBezTo>
                  <a:lnTo>
                    <a:pt x="510055" y="1316498"/>
                  </a:lnTo>
                  <a:cubicBezTo>
                    <a:pt x="510055" y="1336252"/>
                    <a:pt x="494041" y="1352266"/>
                    <a:pt x="474287" y="1352266"/>
                  </a:cubicBezTo>
                  <a:lnTo>
                    <a:pt x="35768" y="1352266"/>
                  </a:lnTo>
                  <a:cubicBezTo>
                    <a:pt x="16014" y="1352266"/>
                    <a:pt x="0" y="1336252"/>
                    <a:pt x="0" y="1316498"/>
                  </a:cubicBezTo>
                  <a:lnTo>
                    <a:pt x="0" y="35768"/>
                  </a:lnTo>
                  <a:cubicBezTo>
                    <a:pt x="0" y="16014"/>
                    <a:pt x="16014" y="0"/>
                    <a:pt x="357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54069">
                    <a:alpha val="100000"/>
                  </a:srgbClr>
                </a:gs>
                <a:gs pos="50000">
                  <a:srgbClr val="144A7F">
                    <a:alpha val="100000"/>
                  </a:srgbClr>
                </a:gs>
                <a:gs pos="100000">
                  <a:srgbClr val="3C98C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809750" y="2062068"/>
            <a:ext cx="3030242" cy="8351798"/>
            <a:chOff x="0" y="0"/>
            <a:chExt cx="510055" cy="14057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0055" cy="1405788"/>
            </a:xfrm>
            <a:custGeom>
              <a:avLst/>
              <a:gdLst/>
              <a:ahLst/>
              <a:cxnLst/>
              <a:rect r="r" b="b" t="t" l="l"/>
              <a:pathLst>
                <a:path h="1405788" w="510055">
                  <a:moveTo>
                    <a:pt x="35768" y="0"/>
                  </a:moveTo>
                  <a:lnTo>
                    <a:pt x="474287" y="0"/>
                  </a:lnTo>
                  <a:cubicBezTo>
                    <a:pt x="494041" y="0"/>
                    <a:pt x="510055" y="16014"/>
                    <a:pt x="510055" y="35768"/>
                  </a:cubicBezTo>
                  <a:lnTo>
                    <a:pt x="510055" y="1370019"/>
                  </a:lnTo>
                  <a:cubicBezTo>
                    <a:pt x="510055" y="1389774"/>
                    <a:pt x="494041" y="1405788"/>
                    <a:pt x="474287" y="1405788"/>
                  </a:cubicBezTo>
                  <a:lnTo>
                    <a:pt x="35768" y="1405788"/>
                  </a:lnTo>
                  <a:cubicBezTo>
                    <a:pt x="16014" y="1405788"/>
                    <a:pt x="0" y="1389774"/>
                    <a:pt x="0" y="1370019"/>
                  </a:cubicBezTo>
                  <a:lnTo>
                    <a:pt x="0" y="35768"/>
                  </a:lnTo>
                  <a:cubicBezTo>
                    <a:pt x="0" y="16014"/>
                    <a:pt x="16014" y="0"/>
                    <a:pt x="35768" y="0"/>
                  </a:cubicBezTo>
                  <a:close/>
                </a:path>
              </a:pathLst>
            </a:custGeom>
            <a:solidFill>
              <a:srgbClr val="AB654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027531" y="2218328"/>
            <a:ext cx="2614775" cy="8351798"/>
            <a:chOff x="0" y="0"/>
            <a:chExt cx="425084" cy="13577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5084" cy="1357751"/>
            </a:xfrm>
            <a:custGeom>
              <a:avLst/>
              <a:gdLst/>
              <a:ahLst/>
              <a:cxnLst/>
              <a:rect r="r" b="b" t="t" l="l"/>
              <a:pathLst>
                <a:path h="1357751" w="425084">
                  <a:moveTo>
                    <a:pt x="41452" y="0"/>
                  </a:moveTo>
                  <a:lnTo>
                    <a:pt x="383632" y="0"/>
                  </a:lnTo>
                  <a:cubicBezTo>
                    <a:pt x="406525" y="0"/>
                    <a:pt x="425084" y="18559"/>
                    <a:pt x="425084" y="41452"/>
                  </a:cubicBezTo>
                  <a:lnTo>
                    <a:pt x="425084" y="1316299"/>
                  </a:lnTo>
                  <a:cubicBezTo>
                    <a:pt x="425084" y="1327293"/>
                    <a:pt x="420716" y="1337836"/>
                    <a:pt x="412943" y="1345610"/>
                  </a:cubicBezTo>
                  <a:cubicBezTo>
                    <a:pt x="405169" y="1353383"/>
                    <a:pt x="394626" y="1357751"/>
                    <a:pt x="383632" y="1357751"/>
                  </a:cubicBezTo>
                  <a:lnTo>
                    <a:pt x="41452" y="1357751"/>
                  </a:lnTo>
                  <a:cubicBezTo>
                    <a:pt x="30458" y="1357751"/>
                    <a:pt x="19915" y="1353383"/>
                    <a:pt x="12141" y="1345610"/>
                  </a:cubicBezTo>
                  <a:cubicBezTo>
                    <a:pt x="4367" y="1337836"/>
                    <a:pt x="0" y="1327293"/>
                    <a:pt x="0" y="1316299"/>
                  </a:cubicBezTo>
                  <a:lnTo>
                    <a:pt x="0" y="41452"/>
                  </a:lnTo>
                  <a:cubicBezTo>
                    <a:pt x="0" y="30458"/>
                    <a:pt x="4367" y="19915"/>
                    <a:pt x="12141" y="12141"/>
                  </a:cubicBezTo>
                  <a:cubicBezTo>
                    <a:pt x="19915" y="4367"/>
                    <a:pt x="30458" y="0"/>
                    <a:pt x="41452" y="0"/>
                  </a:cubicBezTo>
                  <a:close/>
                </a:path>
              </a:pathLst>
            </a:custGeom>
            <a:blipFill>
              <a:blip r:embed="rId4"/>
              <a:stretch>
                <a:fillRect l="-190156" t="0" r="-19015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041641" y="4003873"/>
            <a:ext cx="3030242" cy="6409993"/>
            <a:chOff x="0" y="0"/>
            <a:chExt cx="510055" cy="10789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0055" cy="1078940"/>
            </a:xfrm>
            <a:custGeom>
              <a:avLst/>
              <a:gdLst/>
              <a:ahLst/>
              <a:cxnLst/>
              <a:rect r="r" b="b" t="t" l="l"/>
              <a:pathLst>
                <a:path h="1078940" w="510055">
                  <a:moveTo>
                    <a:pt x="35768" y="0"/>
                  </a:moveTo>
                  <a:lnTo>
                    <a:pt x="474287" y="0"/>
                  </a:lnTo>
                  <a:cubicBezTo>
                    <a:pt x="494041" y="0"/>
                    <a:pt x="510055" y="16014"/>
                    <a:pt x="510055" y="35768"/>
                  </a:cubicBezTo>
                  <a:lnTo>
                    <a:pt x="510055" y="1043172"/>
                  </a:lnTo>
                  <a:cubicBezTo>
                    <a:pt x="510055" y="1062926"/>
                    <a:pt x="494041" y="1078940"/>
                    <a:pt x="474287" y="1078940"/>
                  </a:cubicBezTo>
                  <a:lnTo>
                    <a:pt x="35768" y="1078940"/>
                  </a:lnTo>
                  <a:cubicBezTo>
                    <a:pt x="16014" y="1078940"/>
                    <a:pt x="0" y="1062926"/>
                    <a:pt x="0" y="1043172"/>
                  </a:cubicBezTo>
                  <a:lnTo>
                    <a:pt x="0" y="35768"/>
                  </a:lnTo>
                  <a:cubicBezTo>
                    <a:pt x="0" y="16014"/>
                    <a:pt x="16014" y="0"/>
                    <a:pt x="35768" y="0"/>
                  </a:cubicBezTo>
                  <a:close/>
                </a:path>
              </a:pathLst>
            </a:custGeom>
            <a:blipFill>
              <a:blip r:embed="rId5"/>
              <a:stretch>
                <a:fillRect l="-135150" t="0" r="-13515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041641" y="1860984"/>
            <a:ext cx="3030242" cy="1935202"/>
            <a:chOff x="0" y="0"/>
            <a:chExt cx="510055" cy="3257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0055" cy="325736"/>
            </a:xfrm>
            <a:custGeom>
              <a:avLst/>
              <a:gdLst/>
              <a:ahLst/>
              <a:cxnLst/>
              <a:rect r="r" b="b" t="t" l="l"/>
              <a:pathLst>
                <a:path h="325736" w="510055">
                  <a:moveTo>
                    <a:pt x="35768" y="0"/>
                  </a:moveTo>
                  <a:lnTo>
                    <a:pt x="474287" y="0"/>
                  </a:lnTo>
                  <a:cubicBezTo>
                    <a:pt x="494041" y="0"/>
                    <a:pt x="510055" y="16014"/>
                    <a:pt x="510055" y="35768"/>
                  </a:cubicBezTo>
                  <a:lnTo>
                    <a:pt x="510055" y="289968"/>
                  </a:lnTo>
                  <a:cubicBezTo>
                    <a:pt x="510055" y="309722"/>
                    <a:pt x="494041" y="325736"/>
                    <a:pt x="474287" y="325736"/>
                  </a:cubicBezTo>
                  <a:lnTo>
                    <a:pt x="35768" y="325736"/>
                  </a:lnTo>
                  <a:cubicBezTo>
                    <a:pt x="16014" y="325736"/>
                    <a:pt x="0" y="309722"/>
                    <a:pt x="0" y="289968"/>
                  </a:cubicBezTo>
                  <a:lnTo>
                    <a:pt x="0" y="35768"/>
                  </a:lnTo>
                  <a:cubicBezTo>
                    <a:pt x="0" y="16014"/>
                    <a:pt x="16014" y="0"/>
                    <a:pt x="35768" y="0"/>
                  </a:cubicBezTo>
                  <a:close/>
                </a:path>
              </a:pathLst>
            </a:custGeom>
            <a:blipFill>
              <a:blip r:embed="rId6"/>
              <a:stretch>
                <a:fillRect l="-6835" t="0" r="-6835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767911" y="-173220"/>
            <a:ext cx="2690325" cy="7677124"/>
            <a:chOff x="0" y="0"/>
            <a:chExt cx="578923" cy="16520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8923" cy="1652018"/>
            </a:xfrm>
            <a:custGeom>
              <a:avLst/>
              <a:gdLst/>
              <a:ahLst/>
              <a:cxnLst/>
              <a:rect r="r" b="b" t="t" l="l"/>
              <a:pathLst>
                <a:path h="1652018" w="578923">
                  <a:moveTo>
                    <a:pt x="40288" y="0"/>
                  </a:moveTo>
                  <a:lnTo>
                    <a:pt x="538636" y="0"/>
                  </a:lnTo>
                  <a:cubicBezTo>
                    <a:pt x="549321" y="0"/>
                    <a:pt x="559568" y="4245"/>
                    <a:pt x="567124" y="11800"/>
                  </a:cubicBezTo>
                  <a:cubicBezTo>
                    <a:pt x="574679" y="19355"/>
                    <a:pt x="578923" y="29603"/>
                    <a:pt x="578923" y="40288"/>
                  </a:cubicBezTo>
                  <a:lnTo>
                    <a:pt x="578923" y="1611731"/>
                  </a:lnTo>
                  <a:cubicBezTo>
                    <a:pt x="578923" y="1622416"/>
                    <a:pt x="574679" y="1632663"/>
                    <a:pt x="567124" y="1640218"/>
                  </a:cubicBezTo>
                  <a:cubicBezTo>
                    <a:pt x="559568" y="1647774"/>
                    <a:pt x="549321" y="1652018"/>
                    <a:pt x="538636" y="1652018"/>
                  </a:cubicBezTo>
                  <a:lnTo>
                    <a:pt x="40288" y="1652018"/>
                  </a:lnTo>
                  <a:cubicBezTo>
                    <a:pt x="29603" y="1652018"/>
                    <a:pt x="19355" y="1647774"/>
                    <a:pt x="11800" y="1640218"/>
                  </a:cubicBezTo>
                  <a:cubicBezTo>
                    <a:pt x="4245" y="1632663"/>
                    <a:pt x="0" y="1622416"/>
                    <a:pt x="0" y="1611731"/>
                  </a:cubicBezTo>
                  <a:lnTo>
                    <a:pt x="0" y="40288"/>
                  </a:lnTo>
                  <a:cubicBezTo>
                    <a:pt x="0" y="29603"/>
                    <a:pt x="4245" y="19355"/>
                    <a:pt x="11800" y="11800"/>
                  </a:cubicBezTo>
                  <a:cubicBezTo>
                    <a:pt x="19355" y="4245"/>
                    <a:pt x="29603" y="0"/>
                    <a:pt x="40288" y="0"/>
                  </a:cubicBezTo>
                  <a:close/>
                </a:path>
              </a:pathLst>
            </a:custGeom>
            <a:blipFill>
              <a:blip r:embed="rId7"/>
              <a:stretch>
                <a:fillRect l="-203653" t="0" r="-203653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84119" y="3447247"/>
            <a:ext cx="9842939" cy="683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9912" indent="-279956" lvl="1">
              <a:lnSpc>
                <a:spcPts val="3630"/>
              </a:lnSpc>
              <a:buFont typeface="Arial"/>
              <a:buChar char="•"/>
            </a:pPr>
            <a:r>
              <a:rPr lang="en-US" sz="259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Mimari Yapı: Projemiz iki ana modülden oluşmaktadır. İlk modül olan veri_olustur(), gerçek dünyadaki randevu taleplerini simüle ederek yapılandırılmış bir veri seti hazırlar. İkinci modül olan veri_isle() ise bu verileri bir "akış" (stream) olarak kabul edip anlık olarak işler</a:t>
            </a:r>
          </a:p>
          <a:p>
            <a:pPr algn="just">
              <a:lnSpc>
                <a:spcPts val="3630"/>
              </a:lnSpc>
            </a:pPr>
          </a:p>
          <a:p>
            <a:pPr algn="just" marL="559912" indent="-279956" lvl="1">
              <a:lnSpc>
                <a:spcPts val="3630"/>
              </a:lnSpc>
              <a:buFont typeface="Arial"/>
              <a:buChar char="•"/>
            </a:pPr>
            <a:r>
              <a:rPr lang="en-US" sz="259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Akış Simülasyonu: time.sleep(0.6) fonksiyonu kullanılarak, verilerin saniyeler içinde arka arkaya sisteme düştüğü bir "Stream Processing" ortamı yaratılmıştır. Bu, büyük veri sistemlerindeki düşük gecikmeli işlem prensibini temsil eder.</a:t>
            </a:r>
          </a:p>
          <a:p>
            <a:pPr algn="just">
              <a:lnSpc>
                <a:spcPts val="3630"/>
              </a:lnSpc>
            </a:pPr>
          </a:p>
          <a:p>
            <a:pPr algn="l" marL="559912" indent="-279956" lvl="1">
              <a:lnSpc>
                <a:spcPts val="3630"/>
              </a:lnSpc>
              <a:buFont typeface="Arial"/>
              <a:buChar char="•"/>
            </a:pPr>
            <a:r>
              <a:rPr lang="en-US" sz="259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Anlık Değerlendirme: Kod, her satırı okuduğu anda if bekleme_suresi &gt; 60 kontrolünü yaparak, verinin depolanmasını beklemeden "hareket halindeyken" (data-in-motion) analiz eder ve kritik uyarıyı (Alert) tetikler</a:t>
            </a:r>
          </a:p>
          <a:p>
            <a:pPr algn="just">
              <a:lnSpc>
                <a:spcPts val="3630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0597953" y="8341531"/>
            <a:ext cx="3030242" cy="2228595"/>
            <a:chOff x="0" y="0"/>
            <a:chExt cx="510055" cy="3751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0055" cy="375121"/>
            </a:xfrm>
            <a:custGeom>
              <a:avLst/>
              <a:gdLst/>
              <a:ahLst/>
              <a:cxnLst/>
              <a:rect r="r" b="b" t="t" l="l"/>
              <a:pathLst>
                <a:path h="375121" w="510055">
                  <a:moveTo>
                    <a:pt x="35768" y="0"/>
                  </a:moveTo>
                  <a:lnTo>
                    <a:pt x="474287" y="0"/>
                  </a:lnTo>
                  <a:cubicBezTo>
                    <a:pt x="494041" y="0"/>
                    <a:pt x="510055" y="16014"/>
                    <a:pt x="510055" y="35768"/>
                  </a:cubicBezTo>
                  <a:lnTo>
                    <a:pt x="510055" y="339352"/>
                  </a:lnTo>
                  <a:cubicBezTo>
                    <a:pt x="510055" y="359107"/>
                    <a:pt x="494041" y="375121"/>
                    <a:pt x="474287" y="375121"/>
                  </a:cubicBezTo>
                  <a:lnTo>
                    <a:pt x="35768" y="375121"/>
                  </a:lnTo>
                  <a:cubicBezTo>
                    <a:pt x="16014" y="375121"/>
                    <a:pt x="0" y="359107"/>
                    <a:pt x="0" y="339352"/>
                  </a:cubicBezTo>
                  <a:lnTo>
                    <a:pt x="0" y="35768"/>
                  </a:lnTo>
                  <a:cubicBezTo>
                    <a:pt x="0" y="16014"/>
                    <a:pt x="16014" y="0"/>
                    <a:pt x="35768" y="0"/>
                  </a:cubicBezTo>
                  <a:close/>
                </a:path>
              </a:pathLst>
            </a:custGeom>
            <a:blipFill>
              <a:blip r:embed="rId6"/>
              <a:stretch>
                <a:fillRect l="-15452" t="0" r="-15452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5400000">
            <a:off x="15480444" y="-2043236"/>
            <a:ext cx="2025840" cy="5367228"/>
            <a:chOff x="0" y="0"/>
            <a:chExt cx="510055" cy="13513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0055" cy="1351331"/>
            </a:xfrm>
            <a:custGeom>
              <a:avLst/>
              <a:gdLst/>
              <a:ahLst/>
              <a:cxnLst/>
              <a:rect r="r" b="b" t="t" l="l"/>
              <a:pathLst>
                <a:path h="1351331" w="510055">
                  <a:moveTo>
                    <a:pt x="53502" y="0"/>
                  </a:moveTo>
                  <a:lnTo>
                    <a:pt x="456553" y="0"/>
                  </a:lnTo>
                  <a:cubicBezTo>
                    <a:pt x="486101" y="0"/>
                    <a:pt x="510055" y="23954"/>
                    <a:pt x="510055" y="53502"/>
                  </a:cubicBezTo>
                  <a:lnTo>
                    <a:pt x="510055" y="1297829"/>
                  </a:lnTo>
                  <a:cubicBezTo>
                    <a:pt x="510055" y="1312019"/>
                    <a:pt x="504418" y="1325627"/>
                    <a:pt x="494385" y="1335661"/>
                  </a:cubicBezTo>
                  <a:cubicBezTo>
                    <a:pt x="484351" y="1345695"/>
                    <a:pt x="470742" y="1351331"/>
                    <a:pt x="456553" y="1351331"/>
                  </a:cubicBezTo>
                  <a:lnTo>
                    <a:pt x="53502" y="1351331"/>
                  </a:lnTo>
                  <a:cubicBezTo>
                    <a:pt x="39313" y="1351331"/>
                    <a:pt x="25704" y="1345695"/>
                    <a:pt x="15670" y="1335661"/>
                  </a:cubicBezTo>
                  <a:cubicBezTo>
                    <a:pt x="5637" y="1325627"/>
                    <a:pt x="0" y="1312019"/>
                    <a:pt x="0" y="1297829"/>
                  </a:cubicBezTo>
                  <a:lnTo>
                    <a:pt x="0" y="53502"/>
                  </a:lnTo>
                  <a:cubicBezTo>
                    <a:pt x="0" y="39313"/>
                    <a:pt x="5637" y="25704"/>
                    <a:pt x="15670" y="15670"/>
                  </a:cubicBezTo>
                  <a:cubicBezTo>
                    <a:pt x="25704" y="5637"/>
                    <a:pt x="39313" y="0"/>
                    <a:pt x="53502" y="0"/>
                  </a:cubicBezTo>
                  <a:close/>
                </a:path>
              </a:pathLst>
            </a:custGeom>
            <a:blipFill>
              <a:blip r:embed="rId5"/>
              <a:stretch>
                <a:fillRect l="-181893" t="0" r="-181893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470660" y="539106"/>
            <a:ext cx="1116081" cy="1114192"/>
          </a:xfrm>
          <a:custGeom>
            <a:avLst/>
            <a:gdLst/>
            <a:ahLst/>
            <a:cxnLst/>
            <a:rect r="r" b="b" t="t" l="l"/>
            <a:pathLst>
              <a:path h="1114192" w="1116081">
                <a:moveTo>
                  <a:pt x="0" y="0"/>
                </a:moveTo>
                <a:lnTo>
                  <a:pt x="1116080" y="0"/>
                </a:lnTo>
                <a:lnTo>
                  <a:pt x="1116080" y="1114192"/>
                </a:lnTo>
                <a:lnTo>
                  <a:pt x="0" y="11141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2182" y="3338057"/>
            <a:ext cx="19952363" cy="6948943"/>
            <a:chOff x="0" y="0"/>
            <a:chExt cx="5254943" cy="18301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54943" cy="1830174"/>
            </a:xfrm>
            <a:custGeom>
              <a:avLst/>
              <a:gdLst/>
              <a:ahLst/>
              <a:cxnLst/>
              <a:rect r="r" b="b" t="t" l="l"/>
              <a:pathLst>
                <a:path h="1830174" w="5254943">
                  <a:moveTo>
                    <a:pt x="14745" y="0"/>
                  </a:moveTo>
                  <a:lnTo>
                    <a:pt x="5240198" y="0"/>
                  </a:lnTo>
                  <a:cubicBezTo>
                    <a:pt x="5248342" y="0"/>
                    <a:pt x="5254943" y="6601"/>
                    <a:pt x="5254943" y="14745"/>
                  </a:cubicBezTo>
                  <a:lnTo>
                    <a:pt x="5254943" y="1815429"/>
                  </a:lnTo>
                  <a:cubicBezTo>
                    <a:pt x="5254943" y="1823573"/>
                    <a:pt x="5248342" y="1830174"/>
                    <a:pt x="5240198" y="1830174"/>
                  </a:cubicBezTo>
                  <a:lnTo>
                    <a:pt x="14745" y="1830174"/>
                  </a:lnTo>
                  <a:cubicBezTo>
                    <a:pt x="10834" y="1830174"/>
                    <a:pt x="7084" y="1828621"/>
                    <a:pt x="4319" y="1825855"/>
                  </a:cubicBezTo>
                  <a:cubicBezTo>
                    <a:pt x="1553" y="1823090"/>
                    <a:pt x="0" y="1819340"/>
                    <a:pt x="0" y="1815429"/>
                  </a:cubicBezTo>
                  <a:lnTo>
                    <a:pt x="0" y="14745"/>
                  </a:lnTo>
                  <a:cubicBezTo>
                    <a:pt x="0" y="10834"/>
                    <a:pt x="1553" y="7084"/>
                    <a:pt x="4319" y="4319"/>
                  </a:cubicBezTo>
                  <a:cubicBezTo>
                    <a:pt x="7084" y="1553"/>
                    <a:pt x="10834" y="0"/>
                    <a:pt x="14745" y="0"/>
                  </a:cubicBezTo>
                  <a:close/>
                </a:path>
              </a:pathLst>
            </a:custGeom>
            <a:solidFill>
              <a:srgbClr val="1540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254943" cy="1858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3077098"/>
            <a:ext cx="935296" cy="1026981"/>
            <a:chOff x="0" y="0"/>
            <a:chExt cx="246333" cy="2704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6333" cy="270481"/>
            </a:xfrm>
            <a:custGeom>
              <a:avLst/>
              <a:gdLst/>
              <a:ahLst/>
              <a:cxnLst/>
              <a:rect r="r" b="b" t="t" l="l"/>
              <a:pathLst>
                <a:path h="270481" w="246333">
                  <a:moveTo>
                    <a:pt x="74498" y="0"/>
                  </a:moveTo>
                  <a:lnTo>
                    <a:pt x="171836" y="0"/>
                  </a:lnTo>
                  <a:cubicBezTo>
                    <a:pt x="191594" y="0"/>
                    <a:pt x="210542" y="7849"/>
                    <a:pt x="224513" y="21820"/>
                  </a:cubicBezTo>
                  <a:cubicBezTo>
                    <a:pt x="238484" y="35791"/>
                    <a:pt x="246333" y="54740"/>
                    <a:pt x="246333" y="74498"/>
                  </a:cubicBezTo>
                  <a:lnTo>
                    <a:pt x="246333" y="195983"/>
                  </a:lnTo>
                  <a:cubicBezTo>
                    <a:pt x="246333" y="215741"/>
                    <a:pt x="238484" y="234690"/>
                    <a:pt x="224513" y="248661"/>
                  </a:cubicBezTo>
                  <a:cubicBezTo>
                    <a:pt x="210542" y="262632"/>
                    <a:pt x="191594" y="270481"/>
                    <a:pt x="171836" y="270481"/>
                  </a:cubicBezTo>
                  <a:lnTo>
                    <a:pt x="74498" y="270481"/>
                  </a:lnTo>
                  <a:cubicBezTo>
                    <a:pt x="54740" y="270481"/>
                    <a:pt x="35791" y="262632"/>
                    <a:pt x="21820" y="248661"/>
                  </a:cubicBezTo>
                  <a:cubicBezTo>
                    <a:pt x="7849" y="234690"/>
                    <a:pt x="0" y="215741"/>
                    <a:pt x="0" y="195983"/>
                  </a:cubicBezTo>
                  <a:lnTo>
                    <a:pt x="0" y="74498"/>
                  </a:lnTo>
                  <a:cubicBezTo>
                    <a:pt x="0" y="54740"/>
                    <a:pt x="7849" y="35791"/>
                    <a:pt x="21820" y="21820"/>
                  </a:cubicBezTo>
                  <a:cubicBezTo>
                    <a:pt x="35791" y="7849"/>
                    <a:pt x="54740" y="0"/>
                    <a:pt x="744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6333" cy="299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3610" y="3590589"/>
            <a:ext cx="468032" cy="210189"/>
          </a:xfrm>
          <a:custGeom>
            <a:avLst/>
            <a:gdLst/>
            <a:ahLst/>
            <a:cxnLst/>
            <a:rect r="r" b="b" t="t" l="l"/>
            <a:pathLst>
              <a:path h="210189" w="468032">
                <a:moveTo>
                  <a:pt x="0" y="0"/>
                </a:moveTo>
                <a:lnTo>
                  <a:pt x="468032" y="0"/>
                </a:lnTo>
                <a:lnTo>
                  <a:pt x="468032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4251" y="326950"/>
            <a:ext cx="1116081" cy="1114192"/>
          </a:xfrm>
          <a:custGeom>
            <a:avLst/>
            <a:gdLst/>
            <a:ahLst/>
            <a:cxnLst/>
            <a:rect r="r" b="b" t="t" l="l"/>
            <a:pathLst>
              <a:path h="1114192" w="1116081">
                <a:moveTo>
                  <a:pt x="0" y="0"/>
                </a:moveTo>
                <a:lnTo>
                  <a:pt x="1116080" y="0"/>
                </a:lnTo>
                <a:lnTo>
                  <a:pt x="1116080" y="1114192"/>
                </a:lnTo>
                <a:lnTo>
                  <a:pt x="0" y="11141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53444" y="3539818"/>
            <a:ext cx="11863483" cy="6747182"/>
          </a:xfrm>
          <a:custGeom>
            <a:avLst/>
            <a:gdLst/>
            <a:ahLst/>
            <a:cxnLst/>
            <a:rect r="r" b="b" t="t" l="l"/>
            <a:pathLst>
              <a:path h="6747182" w="11863483">
                <a:moveTo>
                  <a:pt x="0" y="0"/>
                </a:moveTo>
                <a:lnTo>
                  <a:pt x="11863483" y="0"/>
                </a:lnTo>
                <a:lnTo>
                  <a:pt x="11863483" y="6747182"/>
                </a:lnTo>
                <a:lnTo>
                  <a:pt x="0" y="67471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59" t="0" r="-37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209168" y="3539818"/>
            <a:ext cx="2613226" cy="6940761"/>
          </a:xfrm>
          <a:custGeom>
            <a:avLst/>
            <a:gdLst/>
            <a:ahLst/>
            <a:cxnLst/>
            <a:rect r="r" b="b" t="t" l="l"/>
            <a:pathLst>
              <a:path h="6940761" w="2613226">
                <a:moveTo>
                  <a:pt x="0" y="0"/>
                </a:moveTo>
                <a:lnTo>
                  <a:pt x="2613225" y="0"/>
                </a:lnTo>
                <a:lnTo>
                  <a:pt x="2613225" y="6940762"/>
                </a:lnTo>
                <a:lnTo>
                  <a:pt x="0" y="69407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12" r="-4834" b="-412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838469" y="5353698"/>
            <a:ext cx="3203357" cy="4781130"/>
          </a:xfrm>
          <a:custGeom>
            <a:avLst/>
            <a:gdLst/>
            <a:ahLst/>
            <a:cxnLst/>
            <a:rect r="r" b="b" t="t" l="l"/>
            <a:pathLst>
              <a:path h="4781130" w="3203357">
                <a:moveTo>
                  <a:pt x="0" y="0"/>
                </a:moveTo>
                <a:lnTo>
                  <a:pt x="3203357" y="0"/>
                </a:lnTo>
                <a:lnTo>
                  <a:pt x="3203357" y="4781130"/>
                </a:lnTo>
                <a:lnTo>
                  <a:pt x="0" y="478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943134" y="3924536"/>
            <a:ext cx="3145294" cy="359088"/>
          </a:xfrm>
          <a:custGeom>
            <a:avLst/>
            <a:gdLst/>
            <a:ahLst/>
            <a:cxnLst/>
            <a:rect r="r" b="b" t="t" l="l"/>
            <a:pathLst>
              <a:path h="359088" w="3145294">
                <a:moveTo>
                  <a:pt x="0" y="0"/>
                </a:moveTo>
                <a:lnTo>
                  <a:pt x="3145293" y="0"/>
                </a:lnTo>
                <a:lnTo>
                  <a:pt x="3145293" y="359087"/>
                </a:lnTo>
                <a:lnTo>
                  <a:pt x="0" y="3590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53444" y="1679267"/>
            <a:ext cx="12095157" cy="122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4"/>
              </a:lnSpc>
            </a:pPr>
            <a:r>
              <a:rPr lang="en-US" sz="9600" spc="-33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VERİ ÜRETİMİ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56040" y="3437797"/>
            <a:ext cx="19952363" cy="6948943"/>
            <a:chOff x="0" y="0"/>
            <a:chExt cx="5254943" cy="18301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54943" cy="1830174"/>
            </a:xfrm>
            <a:custGeom>
              <a:avLst/>
              <a:gdLst/>
              <a:ahLst/>
              <a:cxnLst/>
              <a:rect r="r" b="b" t="t" l="l"/>
              <a:pathLst>
                <a:path h="1830174" w="5254943">
                  <a:moveTo>
                    <a:pt x="14745" y="0"/>
                  </a:moveTo>
                  <a:lnTo>
                    <a:pt x="5240198" y="0"/>
                  </a:lnTo>
                  <a:cubicBezTo>
                    <a:pt x="5248342" y="0"/>
                    <a:pt x="5254943" y="6601"/>
                    <a:pt x="5254943" y="14745"/>
                  </a:cubicBezTo>
                  <a:lnTo>
                    <a:pt x="5254943" y="1815429"/>
                  </a:lnTo>
                  <a:cubicBezTo>
                    <a:pt x="5254943" y="1823573"/>
                    <a:pt x="5248342" y="1830174"/>
                    <a:pt x="5240198" y="1830174"/>
                  </a:cubicBezTo>
                  <a:lnTo>
                    <a:pt x="14745" y="1830174"/>
                  </a:lnTo>
                  <a:cubicBezTo>
                    <a:pt x="10834" y="1830174"/>
                    <a:pt x="7084" y="1828621"/>
                    <a:pt x="4319" y="1825855"/>
                  </a:cubicBezTo>
                  <a:cubicBezTo>
                    <a:pt x="1553" y="1823090"/>
                    <a:pt x="0" y="1819340"/>
                    <a:pt x="0" y="1815429"/>
                  </a:cubicBezTo>
                  <a:lnTo>
                    <a:pt x="0" y="14745"/>
                  </a:lnTo>
                  <a:cubicBezTo>
                    <a:pt x="0" y="10834"/>
                    <a:pt x="1553" y="7084"/>
                    <a:pt x="4319" y="4319"/>
                  </a:cubicBezTo>
                  <a:cubicBezTo>
                    <a:pt x="7084" y="1553"/>
                    <a:pt x="10834" y="0"/>
                    <a:pt x="14745" y="0"/>
                  </a:cubicBezTo>
                  <a:close/>
                </a:path>
              </a:pathLst>
            </a:custGeom>
            <a:solidFill>
              <a:srgbClr val="1540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254943" cy="1858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3077098"/>
            <a:ext cx="935296" cy="1026981"/>
            <a:chOff x="0" y="0"/>
            <a:chExt cx="246333" cy="2704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6333" cy="270481"/>
            </a:xfrm>
            <a:custGeom>
              <a:avLst/>
              <a:gdLst/>
              <a:ahLst/>
              <a:cxnLst/>
              <a:rect r="r" b="b" t="t" l="l"/>
              <a:pathLst>
                <a:path h="270481" w="246333">
                  <a:moveTo>
                    <a:pt x="74498" y="0"/>
                  </a:moveTo>
                  <a:lnTo>
                    <a:pt x="171836" y="0"/>
                  </a:lnTo>
                  <a:cubicBezTo>
                    <a:pt x="191594" y="0"/>
                    <a:pt x="210542" y="7849"/>
                    <a:pt x="224513" y="21820"/>
                  </a:cubicBezTo>
                  <a:cubicBezTo>
                    <a:pt x="238484" y="35791"/>
                    <a:pt x="246333" y="54740"/>
                    <a:pt x="246333" y="74498"/>
                  </a:cubicBezTo>
                  <a:lnTo>
                    <a:pt x="246333" y="195983"/>
                  </a:lnTo>
                  <a:cubicBezTo>
                    <a:pt x="246333" y="215741"/>
                    <a:pt x="238484" y="234690"/>
                    <a:pt x="224513" y="248661"/>
                  </a:cubicBezTo>
                  <a:cubicBezTo>
                    <a:pt x="210542" y="262632"/>
                    <a:pt x="191594" y="270481"/>
                    <a:pt x="171836" y="270481"/>
                  </a:cubicBezTo>
                  <a:lnTo>
                    <a:pt x="74498" y="270481"/>
                  </a:lnTo>
                  <a:cubicBezTo>
                    <a:pt x="54740" y="270481"/>
                    <a:pt x="35791" y="262632"/>
                    <a:pt x="21820" y="248661"/>
                  </a:cubicBezTo>
                  <a:cubicBezTo>
                    <a:pt x="7849" y="234690"/>
                    <a:pt x="0" y="215741"/>
                    <a:pt x="0" y="195983"/>
                  </a:cubicBezTo>
                  <a:lnTo>
                    <a:pt x="0" y="74498"/>
                  </a:lnTo>
                  <a:cubicBezTo>
                    <a:pt x="0" y="54740"/>
                    <a:pt x="7849" y="35791"/>
                    <a:pt x="21820" y="21820"/>
                  </a:cubicBezTo>
                  <a:cubicBezTo>
                    <a:pt x="35791" y="7849"/>
                    <a:pt x="54740" y="0"/>
                    <a:pt x="744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6333" cy="299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3610" y="3590589"/>
            <a:ext cx="468032" cy="210189"/>
          </a:xfrm>
          <a:custGeom>
            <a:avLst/>
            <a:gdLst/>
            <a:ahLst/>
            <a:cxnLst/>
            <a:rect r="r" b="b" t="t" l="l"/>
            <a:pathLst>
              <a:path h="210189" w="468032">
                <a:moveTo>
                  <a:pt x="0" y="0"/>
                </a:moveTo>
                <a:lnTo>
                  <a:pt x="468032" y="0"/>
                </a:lnTo>
                <a:lnTo>
                  <a:pt x="468032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4251" y="326950"/>
            <a:ext cx="1116081" cy="1114192"/>
          </a:xfrm>
          <a:custGeom>
            <a:avLst/>
            <a:gdLst/>
            <a:ahLst/>
            <a:cxnLst/>
            <a:rect r="r" b="b" t="t" l="l"/>
            <a:pathLst>
              <a:path h="1114192" w="1116081">
                <a:moveTo>
                  <a:pt x="0" y="0"/>
                </a:moveTo>
                <a:lnTo>
                  <a:pt x="1116080" y="0"/>
                </a:lnTo>
                <a:lnTo>
                  <a:pt x="1116080" y="1114192"/>
                </a:lnTo>
                <a:lnTo>
                  <a:pt x="0" y="11141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0331" y="3695683"/>
            <a:ext cx="2613226" cy="6940761"/>
          </a:xfrm>
          <a:custGeom>
            <a:avLst/>
            <a:gdLst/>
            <a:ahLst/>
            <a:cxnLst/>
            <a:rect r="r" b="b" t="t" l="l"/>
            <a:pathLst>
              <a:path h="6940761" w="2613226">
                <a:moveTo>
                  <a:pt x="0" y="0"/>
                </a:moveTo>
                <a:lnTo>
                  <a:pt x="2613226" y="0"/>
                </a:lnTo>
                <a:lnTo>
                  <a:pt x="2613226" y="6940761"/>
                </a:lnTo>
                <a:lnTo>
                  <a:pt x="0" y="69407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12" r="-4834" b="-41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4406373">
            <a:off x="3067549" y="4874222"/>
            <a:ext cx="1859243" cy="2774990"/>
          </a:xfrm>
          <a:custGeom>
            <a:avLst/>
            <a:gdLst/>
            <a:ahLst/>
            <a:cxnLst/>
            <a:rect r="r" b="b" t="t" l="l"/>
            <a:pathLst>
              <a:path h="2774990" w="1859243">
                <a:moveTo>
                  <a:pt x="0" y="0"/>
                </a:moveTo>
                <a:lnTo>
                  <a:pt x="1859243" y="0"/>
                </a:lnTo>
                <a:lnTo>
                  <a:pt x="1859243" y="2774990"/>
                </a:lnTo>
                <a:lnTo>
                  <a:pt x="0" y="27749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64297" y="3695683"/>
            <a:ext cx="3145294" cy="359088"/>
          </a:xfrm>
          <a:custGeom>
            <a:avLst/>
            <a:gdLst/>
            <a:ahLst/>
            <a:cxnLst/>
            <a:rect r="r" b="b" t="t" l="l"/>
            <a:pathLst>
              <a:path h="359088" w="3145294">
                <a:moveTo>
                  <a:pt x="0" y="0"/>
                </a:moveTo>
                <a:lnTo>
                  <a:pt x="3145294" y="0"/>
                </a:lnTo>
                <a:lnTo>
                  <a:pt x="3145294" y="359088"/>
                </a:lnTo>
                <a:lnTo>
                  <a:pt x="0" y="3590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683303" y="3651326"/>
            <a:ext cx="4921394" cy="6314225"/>
          </a:xfrm>
          <a:custGeom>
            <a:avLst/>
            <a:gdLst/>
            <a:ahLst/>
            <a:cxnLst/>
            <a:rect r="r" b="b" t="t" l="l"/>
            <a:pathLst>
              <a:path h="6314225" w="4921394">
                <a:moveTo>
                  <a:pt x="0" y="0"/>
                </a:moveTo>
                <a:lnTo>
                  <a:pt x="4921394" y="0"/>
                </a:lnTo>
                <a:lnTo>
                  <a:pt x="4921394" y="6314224"/>
                </a:lnTo>
                <a:lnTo>
                  <a:pt x="0" y="631422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96078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164391" y="3695683"/>
            <a:ext cx="5094909" cy="6314225"/>
          </a:xfrm>
          <a:custGeom>
            <a:avLst/>
            <a:gdLst/>
            <a:ahLst/>
            <a:cxnLst/>
            <a:rect r="r" b="b" t="t" l="l"/>
            <a:pathLst>
              <a:path h="6314225" w="5094909">
                <a:moveTo>
                  <a:pt x="0" y="0"/>
                </a:moveTo>
                <a:lnTo>
                  <a:pt x="5094909" y="0"/>
                </a:lnTo>
                <a:lnTo>
                  <a:pt x="5094909" y="6314225"/>
                </a:lnTo>
                <a:lnTo>
                  <a:pt x="0" y="63142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02992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53444" y="1679267"/>
            <a:ext cx="12095157" cy="122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4"/>
              </a:lnSpc>
            </a:pPr>
            <a:r>
              <a:rPr lang="en-US" sz="9600" spc="-33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ÜRETİLEN VERİ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2182" y="3338057"/>
            <a:ext cx="19952363" cy="6948943"/>
            <a:chOff x="0" y="0"/>
            <a:chExt cx="5254943" cy="18301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54943" cy="1830174"/>
            </a:xfrm>
            <a:custGeom>
              <a:avLst/>
              <a:gdLst/>
              <a:ahLst/>
              <a:cxnLst/>
              <a:rect r="r" b="b" t="t" l="l"/>
              <a:pathLst>
                <a:path h="1830174" w="5254943">
                  <a:moveTo>
                    <a:pt x="14745" y="0"/>
                  </a:moveTo>
                  <a:lnTo>
                    <a:pt x="5240198" y="0"/>
                  </a:lnTo>
                  <a:cubicBezTo>
                    <a:pt x="5248342" y="0"/>
                    <a:pt x="5254943" y="6601"/>
                    <a:pt x="5254943" y="14745"/>
                  </a:cubicBezTo>
                  <a:lnTo>
                    <a:pt x="5254943" y="1815429"/>
                  </a:lnTo>
                  <a:cubicBezTo>
                    <a:pt x="5254943" y="1823573"/>
                    <a:pt x="5248342" y="1830174"/>
                    <a:pt x="5240198" y="1830174"/>
                  </a:cubicBezTo>
                  <a:lnTo>
                    <a:pt x="14745" y="1830174"/>
                  </a:lnTo>
                  <a:cubicBezTo>
                    <a:pt x="10834" y="1830174"/>
                    <a:pt x="7084" y="1828621"/>
                    <a:pt x="4319" y="1825855"/>
                  </a:cubicBezTo>
                  <a:cubicBezTo>
                    <a:pt x="1553" y="1823090"/>
                    <a:pt x="0" y="1819340"/>
                    <a:pt x="0" y="1815429"/>
                  </a:cubicBezTo>
                  <a:lnTo>
                    <a:pt x="0" y="14745"/>
                  </a:lnTo>
                  <a:cubicBezTo>
                    <a:pt x="0" y="10834"/>
                    <a:pt x="1553" y="7084"/>
                    <a:pt x="4319" y="4319"/>
                  </a:cubicBezTo>
                  <a:cubicBezTo>
                    <a:pt x="7084" y="1553"/>
                    <a:pt x="10834" y="0"/>
                    <a:pt x="14745" y="0"/>
                  </a:cubicBezTo>
                  <a:close/>
                </a:path>
              </a:pathLst>
            </a:custGeom>
            <a:solidFill>
              <a:srgbClr val="1540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254943" cy="1858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3077098"/>
            <a:ext cx="935296" cy="1026981"/>
            <a:chOff x="0" y="0"/>
            <a:chExt cx="246333" cy="2704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6333" cy="270481"/>
            </a:xfrm>
            <a:custGeom>
              <a:avLst/>
              <a:gdLst/>
              <a:ahLst/>
              <a:cxnLst/>
              <a:rect r="r" b="b" t="t" l="l"/>
              <a:pathLst>
                <a:path h="270481" w="246333">
                  <a:moveTo>
                    <a:pt x="74498" y="0"/>
                  </a:moveTo>
                  <a:lnTo>
                    <a:pt x="171836" y="0"/>
                  </a:lnTo>
                  <a:cubicBezTo>
                    <a:pt x="191594" y="0"/>
                    <a:pt x="210542" y="7849"/>
                    <a:pt x="224513" y="21820"/>
                  </a:cubicBezTo>
                  <a:cubicBezTo>
                    <a:pt x="238484" y="35791"/>
                    <a:pt x="246333" y="54740"/>
                    <a:pt x="246333" y="74498"/>
                  </a:cubicBezTo>
                  <a:lnTo>
                    <a:pt x="246333" y="195983"/>
                  </a:lnTo>
                  <a:cubicBezTo>
                    <a:pt x="246333" y="215741"/>
                    <a:pt x="238484" y="234690"/>
                    <a:pt x="224513" y="248661"/>
                  </a:cubicBezTo>
                  <a:cubicBezTo>
                    <a:pt x="210542" y="262632"/>
                    <a:pt x="191594" y="270481"/>
                    <a:pt x="171836" y="270481"/>
                  </a:cubicBezTo>
                  <a:lnTo>
                    <a:pt x="74498" y="270481"/>
                  </a:lnTo>
                  <a:cubicBezTo>
                    <a:pt x="54740" y="270481"/>
                    <a:pt x="35791" y="262632"/>
                    <a:pt x="21820" y="248661"/>
                  </a:cubicBezTo>
                  <a:cubicBezTo>
                    <a:pt x="7849" y="234690"/>
                    <a:pt x="0" y="215741"/>
                    <a:pt x="0" y="195983"/>
                  </a:cubicBezTo>
                  <a:lnTo>
                    <a:pt x="0" y="74498"/>
                  </a:lnTo>
                  <a:cubicBezTo>
                    <a:pt x="0" y="54740"/>
                    <a:pt x="7849" y="35791"/>
                    <a:pt x="21820" y="21820"/>
                  </a:cubicBezTo>
                  <a:cubicBezTo>
                    <a:pt x="35791" y="7849"/>
                    <a:pt x="54740" y="0"/>
                    <a:pt x="744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6333" cy="299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3610" y="3590589"/>
            <a:ext cx="468032" cy="210189"/>
          </a:xfrm>
          <a:custGeom>
            <a:avLst/>
            <a:gdLst/>
            <a:ahLst/>
            <a:cxnLst/>
            <a:rect r="r" b="b" t="t" l="l"/>
            <a:pathLst>
              <a:path h="210189" w="468032">
                <a:moveTo>
                  <a:pt x="0" y="0"/>
                </a:moveTo>
                <a:lnTo>
                  <a:pt x="468032" y="0"/>
                </a:lnTo>
                <a:lnTo>
                  <a:pt x="468032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4251" y="326950"/>
            <a:ext cx="1116081" cy="1114192"/>
          </a:xfrm>
          <a:custGeom>
            <a:avLst/>
            <a:gdLst/>
            <a:ahLst/>
            <a:cxnLst/>
            <a:rect r="r" b="b" t="t" l="l"/>
            <a:pathLst>
              <a:path h="1114192" w="1116081">
                <a:moveTo>
                  <a:pt x="0" y="0"/>
                </a:moveTo>
                <a:lnTo>
                  <a:pt x="1116080" y="0"/>
                </a:lnTo>
                <a:lnTo>
                  <a:pt x="1116080" y="1114192"/>
                </a:lnTo>
                <a:lnTo>
                  <a:pt x="0" y="11141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7616" y="3469370"/>
            <a:ext cx="9862100" cy="6817630"/>
          </a:xfrm>
          <a:custGeom>
            <a:avLst/>
            <a:gdLst/>
            <a:ahLst/>
            <a:cxnLst/>
            <a:rect r="r" b="b" t="t" l="l"/>
            <a:pathLst>
              <a:path h="6817630" w="9862100">
                <a:moveTo>
                  <a:pt x="0" y="0"/>
                </a:moveTo>
                <a:lnTo>
                  <a:pt x="9862100" y="0"/>
                </a:lnTo>
                <a:lnTo>
                  <a:pt x="9862100" y="6817630"/>
                </a:lnTo>
                <a:lnTo>
                  <a:pt x="0" y="6817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00" t="-936" r="-1381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02141" y="3469370"/>
            <a:ext cx="6675486" cy="6817630"/>
          </a:xfrm>
          <a:custGeom>
            <a:avLst/>
            <a:gdLst/>
            <a:ahLst/>
            <a:cxnLst/>
            <a:rect r="r" b="b" t="t" l="l"/>
            <a:pathLst>
              <a:path h="6817630" w="6675486">
                <a:moveTo>
                  <a:pt x="0" y="0"/>
                </a:moveTo>
                <a:lnTo>
                  <a:pt x="6675486" y="0"/>
                </a:lnTo>
                <a:lnTo>
                  <a:pt x="6675486" y="6817630"/>
                </a:lnTo>
                <a:lnTo>
                  <a:pt x="0" y="6817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847" t="0" r="-11879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937350">
            <a:off x="9642923" y="8099591"/>
            <a:ext cx="1552669" cy="2317417"/>
          </a:xfrm>
          <a:custGeom>
            <a:avLst/>
            <a:gdLst/>
            <a:ahLst/>
            <a:cxnLst/>
            <a:rect r="r" b="b" t="t" l="l"/>
            <a:pathLst>
              <a:path h="2317417" w="1552669">
                <a:moveTo>
                  <a:pt x="0" y="0"/>
                </a:moveTo>
                <a:lnTo>
                  <a:pt x="1552670" y="0"/>
                </a:lnTo>
                <a:lnTo>
                  <a:pt x="1552670" y="2317418"/>
                </a:lnTo>
                <a:lnTo>
                  <a:pt x="0" y="23174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617494" y="8545217"/>
            <a:ext cx="2148710" cy="1044810"/>
          </a:xfrm>
          <a:custGeom>
            <a:avLst/>
            <a:gdLst/>
            <a:ahLst/>
            <a:cxnLst/>
            <a:rect r="r" b="b" t="t" l="l"/>
            <a:pathLst>
              <a:path h="1044810" w="2148710">
                <a:moveTo>
                  <a:pt x="0" y="0"/>
                </a:moveTo>
                <a:lnTo>
                  <a:pt x="2148709" y="0"/>
                </a:lnTo>
                <a:lnTo>
                  <a:pt x="2148709" y="1044811"/>
                </a:lnTo>
                <a:lnTo>
                  <a:pt x="0" y="10448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53444" y="1679267"/>
            <a:ext cx="12095157" cy="122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4"/>
              </a:lnSpc>
            </a:pPr>
            <a:r>
              <a:rPr lang="en-US" sz="9600" spc="-33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VERİ ANALİZİ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992488" y="319722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9" y="0"/>
                </a:lnTo>
                <a:lnTo>
                  <a:pt x="1399299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1851" y="174550"/>
            <a:ext cx="1116081" cy="1114192"/>
          </a:xfrm>
          <a:custGeom>
            <a:avLst/>
            <a:gdLst/>
            <a:ahLst/>
            <a:cxnLst/>
            <a:rect r="r" b="b" t="t" l="l"/>
            <a:pathLst>
              <a:path h="1114192" w="1116081">
                <a:moveTo>
                  <a:pt x="0" y="0"/>
                </a:moveTo>
                <a:lnTo>
                  <a:pt x="1116080" y="0"/>
                </a:lnTo>
                <a:lnTo>
                  <a:pt x="1116080" y="1114192"/>
                </a:lnTo>
                <a:lnTo>
                  <a:pt x="0" y="11141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67826" y="1028700"/>
            <a:ext cx="7744020" cy="8521617"/>
          </a:xfrm>
          <a:custGeom>
            <a:avLst/>
            <a:gdLst/>
            <a:ahLst/>
            <a:cxnLst/>
            <a:rect r="r" b="b" t="t" l="l"/>
            <a:pathLst>
              <a:path h="8521617" w="7744020">
                <a:moveTo>
                  <a:pt x="0" y="0"/>
                </a:moveTo>
                <a:lnTo>
                  <a:pt x="7744020" y="0"/>
                </a:lnTo>
                <a:lnTo>
                  <a:pt x="7744020" y="8521617"/>
                </a:lnTo>
                <a:lnTo>
                  <a:pt x="0" y="85216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77931" y="1660217"/>
            <a:ext cx="9674904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spc="-33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ANALİZ SONUÇLARIMIZ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4630113"/>
            <a:ext cx="10704953" cy="5434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Toplam İşlem Hacmi: Sistem üzerinden toplam 60 adet randevu kaydı başarıyla geçirilmiştir.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Kritik Bekleme Analizi: Yapılan anlık takip sonucunda, bekleme süresi 1 saati aşan toplam 20 hasta tespit edilmiştir.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Gecikme Oranı: Sistemin genel performansına bakıldığında, hastaların %33.33'ünün kritik eşik olan 60 dakikanın üzerinde beklediği görülmektedir.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Bölüm Bazlı Yoğunluk: Çıktılarda özellikle KBB, Kardiyoloji ve Nöroloji polikliniklerinde ardışık gecikme uyarıları alınmıştır (Görseldeki "Kritik bekleme süresi asildi!" uyarılarına istinaden).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758557" y="203838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3"/>
                </a:lnTo>
                <a:lnTo>
                  <a:pt x="0" y="628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0660" y="471604"/>
            <a:ext cx="1116081" cy="1114192"/>
          </a:xfrm>
          <a:custGeom>
            <a:avLst/>
            <a:gdLst/>
            <a:ahLst/>
            <a:cxnLst/>
            <a:rect r="r" b="b" t="t" l="l"/>
            <a:pathLst>
              <a:path h="1114192" w="1116081">
                <a:moveTo>
                  <a:pt x="0" y="0"/>
                </a:moveTo>
                <a:lnTo>
                  <a:pt x="1116080" y="0"/>
                </a:lnTo>
                <a:lnTo>
                  <a:pt x="1116080" y="1114192"/>
                </a:lnTo>
                <a:lnTo>
                  <a:pt x="0" y="11141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66430" y="1965021"/>
            <a:ext cx="4187078" cy="6356958"/>
          </a:xfrm>
          <a:custGeom>
            <a:avLst/>
            <a:gdLst/>
            <a:ahLst/>
            <a:cxnLst/>
            <a:rect r="r" b="b" t="t" l="l"/>
            <a:pathLst>
              <a:path h="6356958" w="4187078">
                <a:moveTo>
                  <a:pt x="0" y="0"/>
                </a:moveTo>
                <a:lnTo>
                  <a:pt x="4187078" y="0"/>
                </a:lnTo>
                <a:lnTo>
                  <a:pt x="418707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969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75760">
            <a:off x="11035927" y="6136369"/>
            <a:ext cx="5607905" cy="4114800"/>
          </a:xfrm>
          <a:custGeom>
            <a:avLst/>
            <a:gdLst/>
            <a:ahLst/>
            <a:cxnLst/>
            <a:rect r="r" b="b" t="t" l="l"/>
            <a:pathLst>
              <a:path h="4114800" w="5607905">
                <a:moveTo>
                  <a:pt x="0" y="0"/>
                </a:moveTo>
                <a:lnTo>
                  <a:pt x="5607905" y="0"/>
                </a:lnTo>
                <a:lnTo>
                  <a:pt x="56079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17417" y="5539880"/>
            <a:ext cx="1874175" cy="1678076"/>
          </a:xfrm>
          <a:custGeom>
            <a:avLst/>
            <a:gdLst/>
            <a:ahLst/>
            <a:cxnLst/>
            <a:rect r="r" b="b" t="t" l="l"/>
            <a:pathLst>
              <a:path h="1678076" w="1874175">
                <a:moveTo>
                  <a:pt x="0" y="0"/>
                </a:moveTo>
                <a:lnTo>
                  <a:pt x="1874175" y="0"/>
                </a:lnTo>
                <a:lnTo>
                  <a:pt x="1874175" y="1678075"/>
                </a:lnTo>
                <a:lnTo>
                  <a:pt x="0" y="1678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14" t="0" r="-51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77931" y="1957271"/>
            <a:ext cx="9812626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spc="-33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YORUMLARIMIZ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4288" y="3541171"/>
            <a:ext cx="9769296" cy="634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 Operasyonel Verimlilik: 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Gecikme </a:t>
            </a:r>
            <a:r>
              <a:rPr lang="en-US" sz="2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oranının %33.33 olması, hastanenin belirli polikliniklerinde ciddi bir yoğunluk olduğunu göstermektedir. Bu veri, yönetime "yoğun saatlerde ek personel ataması" yapılması gerektiğini kanıtlar.</a:t>
            </a:r>
          </a:p>
          <a:p>
            <a:pPr algn="just">
              <a:lnSpc>
                <a:spcPts val="2800"/>
              </a:lnSpc>
            </a:pP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Monitoring Önemi: 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Anlık uyarı sistemi (Alerting) sayesinde, bir hastanın mağduriyeti henüz gerçekleşirken (bekleme süresi uzarken) müdahale etme şansı doğmaktadır.</a:t>
            </a:r>
          </a:p>
          <a:p>
            <a:pPr algn="just">
              <a:lnSpc>
                <a:spcPts val="2800"/>
              </a:lnSpc>
            </a:pP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Büyük Veri Teknolojileri Entegrasyonu: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Apache Kafka: Bu sistem gerçek hayata taşındığında, yüzlerce hastaneden gelen veriler Kafka kuyruklarına alınarak veri kaybı önlenebilir.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Apache Spark: Mevcut Python kodumuz tek bir bilgisayarda çalışırken, Spark kullanılarak milyonlarca hastanın verisi paralel işlemcilerde saniyeler içinde analiz edilebilir.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Sonuç: Tasarladığımız bu pipeline, verinin sadece bir depolama birimi değil, anlık karar verme mekanizması olarak kullanılabileceğini kanıtlamıştır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617417" y="4304462"/>
            <a:ext cx="1874175" cy="1678076"/>
          </a:xfrm>
          <a:custGeom>
            <a:avLst/>
            <a:gdLst/>
            <a:ahLst/>
            <a:cxnLst/>
            <a:rect r="r" b="b" t="t" l="l"/>
            <a:pathLst>
              <a:path h="1678076" w="1874175">
                <a:moveTo>
                  <a:pt x="0" y="0"/>
                </a:moveTo>
                <a:lnTo>
                  <a:pt x="1874175" y="0"/>
                </a:lnTo>
                <a:lnTo>
                  <a:pt x="1874175" y="1678076"/>
                </a:lnTo>
                <a:lnTo>
                  <a:pt x="0" y="16780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14" t="0" r="-514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3060" y="624004"/>
            <a:ext cx="1116081" cy="1114192"/>
          </a:xfrm>
          <a:custGeom>
            <a:avLst/>
            <a:gdLst/>
            <a:ahLst/>
            <a:cxnLst/>
            <a:rect r="r" b="b" t="t" l="l"/>
            <a:pathLst>
              <a:path h="1114192" w="1116081">
                <a:moveTo>
                  <a:pt x="0" y="0"/>
                </a:moveTo>
                <a:lnTo>
                  <a:pt x="1116080" y="0"/>
                </a:lnTo>
                <a:lnTo>
                  <a:pt x="1116080" y="1114192"/>
                </a:lnTo>
                <a:lnTo>
                  <a:pt x="0" y="11141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621933" y="3706504"/>
            <a:ext cx="10160615" cy="6580496"/>
            <a:chOff x="0" y="0"/>
            <a:chExt cx="13547486" cy="877399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80975"/>
              <a:ext cx="5273717" cy="1735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726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8439476" y="3409736"/>
              <a:ext cx="5108010" cy="5364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651"/>
                </a:lnSpc>
              </a:pPr>
              <a:r>
                <a:rPr lang="en-US" sz="3322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GRUP/3</a:t>
              </a:r>
            </a:p>
            <a:p>
              <a:pPr algn="just">
                <a:lnSpc>
                  <a:spcPts val="4651"/>
                </a:lnSpc>
              </a:pPr>
              <a:r>
                <a:rPr lang="en-US" sz="3322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Mesut Koçar</a:t>
              </a:r>
            </a:p>
            <a:p>
              <a:pPr algn="just">
                <a:lnSpc>
                  <a:spcPts val="4651"/>
                </a:lnSpc>
              </a:pPr>
              <a:r>
                <a:rPr lang="en-US" sz="3322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Mehmet Zahid Aksay</a:t>
              </a:r>
            </a:p>
            <a:p>
              <a:pPr algn="just">
                <a:lnSpc>
                  <a:spcPts val="4651"/>
                </a:lnSpc>
              </a:pPr>
              <a:r>
                <a:rPr lang="en-US" sz="3322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Kerem Paralı</a:t>
              </a:r>
            </a:p>
            <a:p>
              <a:pPr algn="just">
                <a:lnSpc>
                  <a:spcPts val="4651"/>
                </a:lnSpc>
              </a:pPr>
              <a:r>
                <a:rPr lang="en-US" sz="3322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Aslı Hüma Mutlu</a:t>
              </a:r>
            </a:p>
            <a:p>
              <a:pPr algn="ctr">
                <a:lnSpc>
                  <a:spcPts val="4397"/>
                </a:lnSpc>
              </a:pPr>
            </a:p>
            <a:p>
              <a:pPr algn="ctr">
                <a:lnSpc>
                  <a:spcPts val="4397"/>
                </a:lnSpc>
              </a:pPr>
              <a:r>
                <a:rPr lang="en-US" sz="3141" b="true">
                  <a:solidFill>
                    <a:srgbClr val="FFFFFF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 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16815" y="443029"/>
            <a:ext cx="4653796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KAYNAKÇA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5896" y="2170938"/>
            <a:ext cx="16548860" cy="442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McKinney, W. (2022). Python for Data Analysis: Data Wrangling with Pandas, NumPy, and Jupyter. O'Reilly Media. 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(Bu kitap, projedeki veri üretimi ve analizi süreçleri için temel Python referansıdır.)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Python Software Foundation (2026). CSV File Reading and Writing - Python 3.12 Documentation. 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Belle, A., et al. (2015). "Big Data Analytics in Healthcare." BioMed Research International.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(Hastane sistemlerinde verinin neden önemli olduğunu ve sağlık sektöründeki büyük veri uygulamalarını anlatan temel makaledir.)</a:t>
            </a:r>
          </a:p>
          <a:p>
            <a:pPr algn="l">
              <a:lnSpc>
                <a:spcPts val="2800"/>
              </a:lnSpc>
            </a:pP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DAHGEIbWa9Y</dc:identifier>
  <dcterms:modified xsi:type="dcterms:W3CDTF">2011-08-01T06:04:30Z</dcterms:modified>
  <cp:revision>1</cp:revision>
  <dc:title>HASTANE RANDEVU SİSTEMİ</dc:title>
</cp:coreProperties>
</file>